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开场只讲一句：REIM 让模仿策略在执行偏离后能够识别风险并切换到专门的恢复控制。强调右图是 MuJoCo 仿真帧。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先把边界讲清：任务没变，只是 Meta-World API 从历史 v2 迁移到维护中的 v3。当前输入含精确物体和目标位置。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不要把问题说成 ACT 太弱。ACT 已经是强名义策略，失败来自模仿学习闭环中的 covariate shift 与 compounding error。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三个问题分别对应 LSTM 门控、触发快照数据和持久恢复 option。为后续模块建立一一对应关系。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部署闭环是全文唯一主线。先讲低风险走 ACT，高风险走恢复，再讲环境反馈。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 的价值是强名义技能，而不是失败恢复。CVAE encoder 训练时使用，推理时固定 z=0，保证确定性。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数据来自冻结 ACT 的在线 rollout。进度规则只在发生物体交互后开启，避免把正常接近阶段误标成停滞。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重点解释 inclusive label：输入严格因果，但标签区间包含当前事件，所以不能把 92.1% F1 等同于提前 10 步预测。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这是方法创新的核心动机。人工重置只控制几何位置，而恢复行为还依赖速度、夹爪和任务内部状态。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采集阈值 0.10 比部署阈值 0.20 更宽松，是为了覆盖更多仍可恢复的边缘状态。评测阶段绝不调用 expert。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这里必须明确口径。正式 checkpoint 无 critic、optimizer 或 rollout state，动作导出审计误差为零。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min_steps 等于 budget、clear_steps 大于 budget，因此恢复中途不会根据风险清除退出。预算用满且任务未结束时才返回 ACT，并清空动作块。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Reset 的第二次尝试有独立保留 seed，并在表里明确标注。其他方法消费相同 episode specification。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Random Reset 的 outcome 不是 recovery rate；Heuristic 使用模拟器级语义信息，是强但 privileged 的门控对照。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先讲绝对成功率，再讲配对提升。不要在这一页塞入所有 p 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这页回答常见质疑：REIM 不是因为更频繁地启动恢复才成功，实际干预率更低。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0% 时两者都为 100%，说明恢复机制没有牺牲名义任务；噪声增加时收益快速扩大。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不把耦合的 snapshot collection 和 recovery imitation 强行拆成两项独立贡献，实验没有单独隔离它们。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说明这是冻结之后的独立 sensitivity bank，不用于回头选择主阈值。主部署点仍是 0.20。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主动解释 86.1% offset=0 能提高可信度。称 causal risk monitor，不称 long-horizon failure forecaster。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这是独立定性 seed 8300042：t=3 物体位移 0.048m，t=9 风险 0.259，53 个恢复动作，t=62 成功。明确不是实体照片。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最后主动限定证据边界。项目当前最强结论是 selective early correction and task recovery under simulated execution disturbances。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reim_success_seed8300042_t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533552"/>
            <a:ext cx="5790895" cy="579089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040880" cy="6858000"/>
          </a:xfrm>
          <a:prstGeom prst="rect">
            <a:avLst/>
          </a:prstGeom>
          <a:solidFill>
            <a:srgbClr val="172B3A"/>
          </a:solidFill>
          <a:ln>
            <a:solidFill>
              <a:srgbClr val="17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5669280" cy="1143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 lang="zh-CN">
                <a:solidFill>
                  <a:srgbClr val="FFFFFF"/>
                </a:solidFill>
                <a:latin typeface="Noto Sans CJK SC"/>
              </a:rPr>
              <a:t>REIM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5394960" cy="11887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lang="zh-CN">
                <a:solidFill>
                  <a:srgbClr val="FFFFFF"/>
                </a:solidFill>
                <a:latin typeface="Noto Sans CJK SC"/>
              </a:rPr>
              <a:t>面向机器人操作失败的
恢复增强模仿学习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337560"/>
            <a:ext cx="521208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lang="zh-CN">
                <a:solidFill>
                  <a:srgbClr val="A9DAD6"/>
                </a:solidFill>
                <a:latin typeface="Noto Sans CJK SC"/>
              </a:rPr>
              <a:t>ACT · 因果风险门控 · 触发对齐恢复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4983480"/>
            <a:ext cx="51206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lang="zh-CN">
                <a:solidFill>
                  <a:srgbClr val="DDE8EE"/>
                </a:solidFill>
                <a:latin typeface="Noto Sans CJK SC"/>
              </a:rPr>
              <a:t>Meta-World PickPlace / MuJoCo Sawyer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06440"/>
            <a:ext cx="51206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lang="zh-CN">
                <a:solidFill>
                  <a:srgbClr val="AFC0CA"/>
                </a:solidFill>
                <a:latin typeface="Noto Sans CJK SC"/>
              </a:rPr>
              <a:t>技术精讲与实验复现 · 2026-08-04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任务：Sawyer PickPlace 的抓取、搬运与放置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在固定任务语义下，研究执行扰动引起的闭环失败。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2</a:t>
            </a:r>
          </a:p>
        </p:txBody>
      </p:sp>
      <p:pic>
        <p:nvPicPr>
          <p:cNvPr id="7" name="Picture 6" descr="01_act_initial_seed8300042_t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48739"/>
            <a:ext cx="3931920" cy="3931920"/>
          </a:xfrm>
          <a:prstGeom prst="rect">
            <a:avLst/>
          </a:prstGeom>
          <a:ln w="19050">
            <a:solidFill>
              <a:srgbClr val="D7E0E6"/>
            </a:solidFill>
          </a:ln>
        </p:spPr>
      </p:pic>
      <p:pic>
        <p:nvPicPr>
          <p:cNvPr id="8" name="Picture 7" descr="state_action_z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181100"/>
            <a:ext cx="6949440" cy="289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92040" y="4133087"/>
            <a:ext cx="6400800" cy="178308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520">
                <a:solidFill>
                  <a:srgbClr val="18232D"/>
                </a:solidFill>
                <a:latin typeface="Noto Sans CJK SC"/>
              </a:defRPr>
            </a:pPr>
            <a:r>
              <a:t>历史任务 PickPlace-v2；Meta-World 3.1.1 实际注册为 pick-place-v3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520">
                <a:solidFill>
                  <a:srgbClr val="18232D"/>
                </a:solidFill>
                <a:latin typeface="Noto Sans CJK SC"/>
              </a:defRPr>
            </a:pPr>
            <a:r>
              <a:t>21 维语义状态 → 4 维笛卡尔增量与夹爪动作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520">
                <a:solidFill>
                  <a:srgbClr val="18232D"/>
                </a:solidFill>
                <a:latin typeface="Noto Sans CJK SC"/>
              </a:defRPr>
            </a:pPr>
            <a:r>
              <a:t>最大 200 步；成功由 Meta-World goal-reaching 信号判定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520">
                <a:solidFill>
                  <a:srgbClr val="18232D"/>
                </a:solidFill>
                <a:latin typeface="Noto Sans CJK SC"/>
              </a:defRPr>
            </a:pPr>
            <a:r>
              <a:t>状态输入仿真研究，不是视觉策略或实体 Sawyer 实验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为什么强 ACT 仍然会失败？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示范拟合准确不等于扰动下闭环鲁棒。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3</a:t>
            </a:r>
          </a:p>
        </p:txBody>
      </p:sp>
      <p:pic>
        <p:nvPicPr>
          <p:cNvPr id="7" name="Picture 6" descr="02_act_disturbance_seed8300042_t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3474720" cy="3474720"/>
          </a:xfrm>
          <a:prstGeom prst="rect">
            <a:avLst/>
          </a:prstGeom>
          <a:ln w="19050">
            <a:solidFill>
              <a:srgbClr val="D7E0E6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94360" y="4709160"/>
            <a:ext cx="3474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lang="zh-CN">
                <a:solidFill>
                  <a:srgbClr val="172B3A"/>
                </a:solidFill>
                <a:latin typeface="Noto Sans CJK SC"/>
              </a:rPr>
              <a:t>物体位移 t=3</a:t>
            </a:r>
          </a:p>
        </p:txBody>
      </p:sp>
      <p:pic>
        <p:nvPicPr>
          <p:cNvPr id="9" name="Picture 8" descr="03_act_unrecovered_seed8300042_t06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234440"/>
            <a:ext cx="3474720" cy="3474720"/>
          </a:xfrm>
          <a:prstGeom prst="rect">
            <a:avLst/>
          </a:prstGeom>
          <a:ln w="19050">
            <a:solidFill>
              <a:srgbClr val="DF7B2F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389120" y="4709160"/>
            <a:ext cx="3474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lang="zh-CN">
                <a:solidFill>
                  <a:srgbClr val="DF7B2F"/>
                </a:solidFill>
                <a:latin typeface="Noto Sans CJK SC"/>
              </a:rPr>
              <a:t>最佳进展仍未抬升 t=68</a:t>
            </a:r>
          </a:p>
        </p:txBody>
      </p:sp>
      <p:pic>
        <p:nvPicPr>
          <p:cNvPr id="11" name="Picture 10" descr="04_act_failure_seed8300042_t2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1234440"/>
            <a:ext cx="3474720" cy="3474720"/>
          </a:xfrm>
          <a:prstGeom prst="rect">
            <a:avLst/>
          </a:prstGeom>
          <a:ln w="19050">
            <a:solidFill>
              <a:srgbClr val="DF7B2F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183880" y="4709160"/>
            <a:ext cx="34747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50" b="1" lang="zh-CN">
                <a:solidFill>
                  <a:srgbClr val="DF7B2F"/>
                </a:solidFill>
                <a:latin typeface="Noto Sans CJK SC"/>
              </a:rPr>
              <a:t>ACT 超时 t=200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257800"/>
            <a:ext cx="10515600" cy="59436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2100" b="1" lang="zh-CN">
                <a:solidFill>
                  <a:srgbClr val="172B3A"/>
                </a:solidFill>
                <a:latin typeface="Noto Sans CJK SC"/>
              </a:rPr>
              <a:t>小误差 → 新状态偏离专家分布 → 下一步动作更差 → 误差沿时间累积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研究问题：恢复系统必须同时回答三件事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关键不只是学恢复动作，还包括切换时机与训练分布。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4</a:t>
            </a:r>
          </a:p>
        </p:txBody>
      </p:sp>
      <p:pic>
        <p:nvPicPr>
          <p:cNvPr id="7" name="Picture 6" descr="three_questions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03020"/>
            <a:ext cx="10972800" cy="448055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REIM 一句话方案：选择性恢复闭环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ACT 负责常规操作，LSTM 判断风险，恢复策略只在需要时接管。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5</a:t>
            </a:r>
          </a:p>
        </p:txBody>
      </p:sp>
      <p:pic>
        <p:nvPicPr>
          <p:cNvPr id="7" name="Picture 6" descr="reim_closed_loop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9" y="1051560"/>
            <a:ext cx="10495721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模块一：状态版 ACT 名义策略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动作块表达短期操作结构，时间集成减少逐步控制抖动。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97280"/>
            <a:ext cx="6858000" cy="731520"/>
          </a:xfrm>
          <a:prstGeom prst="roundRect">
            <a:avLst/>
          </a:prstGeom>
          <a:solidFill>
            <a:srgbClr val="E8F1F8"/>
          </a:solidFill>
          <a:ln>
            <a:solidFill>
              <a:srgbClr val="326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900" b="1" lang="zh-CN">
                <a:solidFill>
                  <a:srgbClr val="326D9D"/>
                </a:solidFill>
                <a:latin typeface="Noto Sans CJK SC"/>
              </a:rPr>
              <a:t>sₜ → CVAE Transformer → 20-action chunk → temporal ensemble → aₜ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6629400" cy="352044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20">
                <a:solidFill>
                  <a:srgbClr val="18232D"/>
                </a:solidFill>
                <a:latin typeface="Noto Sans CJK SC"/>
              </a:defRPr>
            </a:pPr>
            <a:r>
              <a:t>500 条成功专家轨迹，25,969 个 transition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20">
                <a:solidFill>
                  <a:srgbClr val="18232D"/>
                </a:solidFill>
                <a:latin typeface="Noto Sans CJK SC"/>
              </a:defRPr>
            </a:pPr>
            <a:r>
              <a:t>训练时 posterior encoder 看当前状态与未来专家动作块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20">
                <a:solidFill>
                  <a:srgbClr val="18232D"/>
                </a:solidFill>
                <a:latin typeface="Noto Sans CJK SC"/>
              </a:defRPr>
            </a:pPr>
            <a:r>
              <a:t>L1 重建 + β·KL，β=10；推理固定 z=0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20">
                <a:solidFill>
                  <a:srgbClr val="18232D"/>
                </a:solidFill>
                <a:latin typeface="Noto Sans CJK SC"/>
              </a:defRPr>
            </a:pPr>
            <a:r>
              <a:t>chunk=20，hidden=256，8 heads，encoder/decoder=3/4 层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20">
                <a:solidFill>
                  <a:srgbClr val="18232D"/>
                </a:solidFill>
                <a:latin typeface="Noto Sans CJK SC"/>
              </a:defRPr>
            </a:pPr>
            <a:r>
              <a:t>重叠 chunk 按 exp(-0.05·i) 加权；切换时清空历史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1280160"/>
            <a:ext cx="1600200" cy="1234440"/>
          </a:xfrm>
          <a:prstGeom prst="roundRect">
            <a:avLst/>
          </a:prstGeom>
          <a:solidFill>
            <a:srgbClr val="E8F1F8"/>
          </a:solidFill>
          <a:ln>
            <a:solidFill>
              <a:srgbClr val="326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326D9D"/>
                </a:solidFill>
                <a:latin typeface="Noto Sans CJK SC"/>
              </a:rPr>
              <a:t>20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动作块长度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46920" y="1280160"/>
            <a:ext cx="1600200" cy="1234440"/>
          </a:xfrm>
          <a:prstGeom prst="roundRect">
            <a:avLst/>
          </a:prstGeom>
          <a:solidFill>
            <a:srgbClr val="E8F1F8"/>
          </a:solidFill>
          <a:ln>
            <a:solidFill>
              <a:srgbClr val="326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326D9D"/>
                </a:solidFill>
                <a:latin typeface="Noto Sans CJK SC"/>
              </a:rPr>
              <a:t>6.63M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参数量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788920"/>
            <a:ext cx="1600200" cy="123444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300" b="1" lang="zh-CN">
                <a:solidFill>
                  <a:srgbClr val="3C8F88"/>
                </a:solidFill>
                <a:latin typeface="Noto Sans CJK SC"/>
              </a:rPr>
              <a:t>0.004013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验证动作 L1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46920" y="2788920"/>
            <a:ext cx="1600200" cy="123444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3C8F88"/>
                </a:solidFill>
                <a:latin typeface="Noto Sans CJK SC"/>
              </a:rPr>
              <a:t>100%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示范成功率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4389120"/>
            <a:ext cx="3337560" cy="1051560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500" b="1" lang="zh-CN">
                <a:solidFill>
                  <a:srgbClr val="172B3A"/>
                </a:solidFill>
                <a:latin typeface="Noto Sans CJK SC"/>
              </a:rPr>
              <a:t>state-based ACT
不声称复现原始多相机版本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构造风险数据：让 ACT 在扰动下暴露真实失效状态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风险数据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监测器训练于学习策略实际诱导的轨迹，而非静态异常样本。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7</a:t>
            </a:r>
          </a:p>
        </p:txBody>
      </p:sp>
      <p:pic>
        <p:nvPicPr>
          <p:cNvPr id="7" name="Picture 6" descr="02_act_disturbance_seed8300042_t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94460"/>
            <a:ext cx="3749039" cy="3749039"/>
          </a:xfrm>
          <a:prstGeom prst="rect">
            <a:avLst/>
          </a:prstGeom>
          <a:ln w="19050">
            <a:solidFill>
              <a:srgbClr val="DF7B2F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63440" y="1188720"/>
            <a:ext cx="6583680" cy="210312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8232D"/>
                </a:solidFill>
                <a:latin typeface="Noto Sans CJK SC"/>
              </a:defRPr>
            </a:pPr>
            <a:r>
              <a:t>执行 2,000 个扰动 ACT episode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8232D"/>
                </a:solidFill>
                <a:latin typeface="Noto Sans CJK SC"/>
              </a:defRPr>
            </a:pPr>
            <a:r>
              <a:t>动作高斯噪声 σ=0.15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8232D"/>
                </a:solidFill>
                <a:latin typeface="Noto Sans CJK SC"/>
              </a:defRPr>
            </a:pPr>
            <a:r>
              <a:t>观测噪声 σ=0.01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700">
                <a:solidFill>
                  <a:srgbClr val="18232D"/>
                </a:solidFill>
                <a:latin typeface="Noto Sans CJK SC"/>
              </a:defRPr>
            </a:pPr>
            <a:r>
              <a:t>物体位移概率 0.02、幅度 0.04 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00600" y="3657600"/>
            <a:ext cx="1920240" cy="132588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DF7B2F"/>
                </a:solidFill>
                <a:latin typeface="Noto Sans CJK SC"/>
              </a:rPr>
              <a:t>285,443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因果时序窗口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95160" y="3657600"/>
            <a:ext cx="1920240" cy="132588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DF7B2F"/>
                </a:solidFill>
                <a:latin typeface="Noto Sans CJK SC"/>
              </a:rPr>
              <a:t>39.65%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episode 成功率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3657600"/>
            <a:ext cx="1920240" cy="132588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DF7B2F"/>
                </a:solidFill>
                <a:latin typeface="Noto Sans CJK SC"/>
              </a:rPr>
              <a:t>64.09%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正标签占比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5257800"/>
            <a:ext cx="612648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550" b="1" lang="zh-CN">
                <a:solidFill>
                  <a:srgbClr val="172B3A"/>
                </a:solidFill>
                <a:latin typeface="Noto Sans CJK SC"/>
              </a:rPr>
              <a:t>失败事件：掉落 / 越界 / 抓取失败 / 停滞 / 偏离 / 超时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模块二：最近 10 步的因果 LSTM 风险门控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风险门控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输入只到当前时刻；标签判断事件是否位于 [t,t+10]。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5715000" cy="77724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900" b="1" lang="zh-CN">
                <a:solidFill>
                  <a:srgbClr val="DF7B2F"/>
                </a:solidFill>
                <a:latin typeface="Noto Sans CJK SC"/>
              </a:rPr>
              <a:t>sₜ₋₉:ₜ (10×21) → LSTM 128 → MLP 64 → sigmoid → pₜ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5486400" cy="329184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严格因果窗口：不使用 t 之后的状态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早期窗口右侧补零，并传入有效长度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Weighted BCEWithLogitsLoss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trajectory-grouped 80%/20% 划分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冻结部署阈值 τ_on=0.20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95160" y="1325880"/>
            <a:ext cx="1691640" cy="118872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DF7B2F"/>
                </a:solidFill>
                <a:latin typeface="Noto Sans CJK SC"/>
              </a:rPr>
              <a:t>91.8%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325880"/>
            <a:ext cx="1691640" cy="118872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DF7B2F"/>
                </a:solidFill>
                <a:latin typeface="Noto Sans CJK SC"/>
              </a:rPr>
              <a:t>92.3%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Recall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788920"/>
            <a:ext cx="1691640" cy="118872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DF7B2F"/>
                </a:solidFill>
                <a:latin typeface="Noto Sans CJK SC"/>
              </a:rPr>
              <a:t>92.1%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窗口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343400"/>
            <a:ext cx="379476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700" b="1" lang="zh-CN">
                <a:solidFill>
                  <a:srgbClr val="172B3A"/>
                </a:solidFill>
                <a:latin typeface="Noto Sans CJK SC"/>
              </a:rPr>
              <a:t>称为“因果风险监测器”
而不是纯长时域预测器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恢复学习的真正难点：状态分布必须对齐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恢复学习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相同物体位置不代表相同动力学与控制器状态。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4754880" cy="4480560"/>
          </a:xfrm>
          <a:prstGeom prst="roundRect">
            <a:avLst/>
          </a:prstGeom>
          <a:solidFill>
            <a:srgbClr val="F4F7F9"/>
          </a:solidFill>
          <a:ln>
            <a:solidFill>
              <a:srgbClr val="667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2000" b="1" lang="zh-CN">
                <a:solidFill>
                  <a:srgbClr val="667784"/>
                </a:solidFill>
                <a:latin typeface="Noto Sans CJK SC"/>
              </a:rPr>
              <a:t>近似人工 reset
只移动 object xyz
缺少 q̇ / gripper / mocap
control / task bookkeeping
训练—部署分布错位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234440"/>
            <a:ext cx="4754880" cy="448056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2000" b="1" lang="zh-CN">
                <a:solidFill>
                  <a:srgbClr val="3C8F88"/>
                </a:solidFill>
                <a:latin typeface="Noto Sans CJK SC"/>
              </a:rPr>
              <a:t>在线触发 exact snapshot
保存完整 MuJoCo 动态状态
来自 ACT + LSTM
实际会到达的接管时刻
训练分布 ≈ 部署触发分布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77840" y="2834640"/>
            <a:ext cx="100584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 lang="zh-CN">
                <a:solidFill>
                  <a:srgbClr val="DF7B2F"/>
                </a:solidFill>
                <a:latin typeface="Noto Sans CJK SC"/>
              </a:rPr>
              <a:t>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核心创新：触发对齐的恢复课程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恢复学习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在第一次风险触发时保存完整状态，再从同一状态收集成功纠正轨迹。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10</a:t>
            </a:r>
          </a:p>
        </p:txBody>
      </p:sp>
      <p:pic>
        <p:nvPicPr>
          <p:cNvPr id="7" name="Picture 6" descr="recovery_curriculum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89850"/>
            <a:ext cx="11109960" cy="49068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模块三：轻量确定性恢复 actor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恢复策略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恢复能力来自触发状态上的监督纠正模仿，而非额外在线试错。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486400" cy="86868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2000" b="1" lang="zh-CN">
                <a:solidFill>
                  <a:srgbClr val="3C8F88"/>
                </a:solidFill>
                <a:latin typeface="Noto Sans CJK SC"/>
              </a:rPr>
              <a:t>state 21 → tanh 256 → tanh 256 → action 4 → clip[-1,1]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5486400" cy="315468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39">
                <a:solidFill>
                  <a:srgbClr val="18232D"/>
                </a:solidFill>
                <a:latin typeface="Noto Sans CJK SC"/>
              </a:defRPr>
            </a:pPr>
            <a:r>
              <a:t>42,386 个训练状态—动作对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39">
                <a:solidFill>
                  <a:srgbClr val="18232D"/>
                </a:solidFill>
                <a:latin typeface="Noto Sans CJK SC"/>
              </a:defRPr>
            </a:pPr>
            <a:r>
              <a:t>8,212 个轨迹不相交验证对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39">
                <a:solidFill>
                  <a:srgbClr val="18232D"/>
                </a:solidFill>
                <a:latin typeface="Noto Sans CJK SC"/>
              </a:defRPr>
            </a:pPr>
            <a:r>
              <a:t>Smooth L1，40 epochs，batch 512，lr=10⁻³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39">
                <a:solidFill>
                  <a:srgbClr val="18232D"/>
                </a:solidFill>
                <a:latin typeface="Noto Sans CJK SC"/>
              </a:defRPr>
            </a:pPr>
            <a:r>
              <a:t>输入高斯增强 σ=0.005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39">
                <a:solidFill>
                  <a:srgbClr val="18232D"/>
                </a:solidFill>
                <a:latin typeface="Noto Sans CJK SC"/>
              </a:defRPr>
            </a:pPr>
            <a:r>
              <a:t>验证 Smooth L1 = 0.006391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49440" y="1325880"/>
            <a:ext cx="1920240" cy="128016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700" b="1" lang="zh-CN">
                <a:solidFill>
                  <a:srgbClr val="3C8F88"/>
                </a:solidFill>
                <a:latin typeface="Noto Sans CJK SC"/>
              </a:rPr>
              <a:t>72,452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actor 参数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25880"/>
            <a:ext cx="1920240" cy="128016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DF7B2F"/>
                </a:solidFill>
                <a:latin typeface="Noto Sans CJK SC"/>
              </a:rPr>
              <a:t>0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RL 环境训练步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2971800"/>
            <a:ext cx="1920240" cy="128016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DF7B2F"/>
                </a:solidFill>
                <a:latin typeface="Noto Sans CJK SC"/>
              </a:rPr>
              <a:t>0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policy-gradient 更新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2971800"/>
            <a:ext cx="1920240" cy="128016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3C8F88"/>
                </a:solidFill>
                <a:latin typeface="Noto Sans CJK SC"/>
              </a:rPr>
              <a:t>60,598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导出一致性状态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4709160"/>
            <a:ext cx="3977639" cy="713232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700" b="1" lang="zh-CN">
                <a:solidFill>
                  <a:srgbClr val="172B3A"/>
                </a:solidFill>
                <a:latin typeface="Noto Sans CJK SC"/>
              </a:rPr>
              <a:t>最终正式算法：supervised recovery imitation
不是 PPO / RL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部署仲裁：一旦触发，恢复 option 持续接管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闭环控制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持久恢复避免在未回到安全状态时频繁切换。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12</a:t>
            </a:r>
          </a:p>
        </p:txBody>
      </p:sp>
      <p:pic>
        <p:nvPicPr>
          <p:cNvPr id="7" name="Picture 6" descr="reim_closed_loop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22107"/>
            <a:ext cx="6492240" cy="3110865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52360" y="1325880"/>
          <a:ext cx="379476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8308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 lang="zh-CN">
                          <a:solidFill>
                            <a:srgbClr val="FFFFFF"/>
                          </a:solidFill>
                          <a:latin typeface="Noto Sans CJK SC"/>
                        </a:rPr>
                        <a:t>参数</a:t>
                      </a:r>
                    </a:p>
                  </a:txBody>
                  <a:tcPr marL="45720" marR="45720" marT="27432" marB="27432" anchor="ctr"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CN">
                          <a:solidFill>
                            <a:srgbClr val="FFFFFF"/>
                          </a:solidFill>
                          <a:latin typeface="Noto Sans CJK SC"/>
                        </a:rPr>
                        <a:t>冻结值</a:t>
                      </a:r>
                    </a:p>
                  </a:txBody>
                  <a:tcPr marL="45720" marR="45720" marT="27432" marB="27432" anchor="ctr">
                    <a:solidFill>
                      <a:srgbClr val="172B3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触发阈值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0.20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恢复预算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150 步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最小接管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150 步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清除窗口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200 步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 lang="zh-CN">
                          <a:solidFill>
                            <a:srgbClr val="DF7B2F"/>
                          </a:solidFill>
                          <a:latin typeface="Noto Sans CJK SC"/>
                        </a:rPr>
                        <a:t>中途风险释放</a:t>
                      </a:r>
                    </a:p>
                  </a:txBody>
                  <a:tcPr marL="45720" marR="45720" marT="27432" marB="27432" anchor="ctr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 lang="zh-CN">
                          <a:solidFill>
                            <a:srgbClr val="DF7B2F"/>
                          </a:solidFill>
                          <a:latin typeface="Noto Sans CJK SC"/>
                        </a:rPr>
                        <a:t>禁用</a:t>
                      </a:r>
                    </a:p>
                  </a:txBody>
                  <a:tcPr marL="45720" marR="45720" marT="27432" marB="27432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498079" y="4983480"/>
            <a:ext cx="3703320" cy="59436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500" b="1" lang="zh-CN">
                <a:solidFill>
                  <a:srgbClr val="DF7B2F"/>
                </a:solidFill>
                <a:latin typeface="Noto Sans CJK SC"/>
              </a:rPr>
              <a:t>所有 hand-off 清空 ACT temporal ensemble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实验协议：冻结 CRN 任务库逐 episode 配对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同一初态、同一扰动日程，让差异主要来自控制器。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13</a:t>
            </a:r>
          </a:p>
        </p:txBody>
      </p:sp>
      <p:pic>
        <p:nvPicPr>
          <p:cNvPr id="7" name="Picture 6" descr="crn_protocol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71865"/>
            <a:ext cx="7360920" cy="30057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2440" y="1417320"/>
            <a:ext cx="3337560" cy="338328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440">
                <a:solidFill>
                  <a:srgbClr val="18232D"/>
                </a:solidFill>
                <a:latin typeface="Noto Sans CJK SC"/>
              </a:defRPr>
            </a:pPr>
            <a:r>
              <a:t>主实验：20% 扰动，1,000 episodes/方法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440">
                <a:solidFill>
                  <a:srgbClr val="18232D"/>
                </a:solidFill>
                <a:latin typeface="Noto Sans CJK SC"/>
              </a:defRPr>
            </a:pPr>
            <a:r>
              <a:t>鲁棒性：5 个等级，各 200 episodes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440">
                <a:solidFill>
                  <a:srgbClr val="18232D"/>
                </a:solidFill>
                <a:latin typeface="Noto Sans CJK SC"/>
              </a:defRPr>
            </a:pPr>
            <a:r>
              <a:t>Success：Wilson 95% CI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440">
                <a:solidFill>
                  <a:srgbClr val="18232D"/>
                </a:solidFill>
                <a:latin typeface="Noto Sans CJK SC"/>
              </a:defRPr>
            </a:pPr>
            <a:r>
              <a:t>差异与步数：episode bootstrap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440">
                <a:solidFill>
                  <a:srgbClr val="18232D"/>
                </a:solidFill>
                <a:latin typeface="Noto Sans CJK SC"/>
              </a:defRPr>
            </a:pPr>
            <a:r>
              <a:t>episode bank 与原始记录均有 SHA256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79" y="4983480"/>
            <a:ext cx="3154680" cy="594360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450" b="1" lang="zh-CN">
                <a:solidFill>
                  <a:srgbClr val="172B3A"/>
                </a:solidFill>
                <a:latin typeface="Noto Sans CJK SC"/>
              </a:rPr>
              <a:t>配对设计比独立随机抽样
更直接地衡量“救回/损害”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四种方法逐层回答：恢复是否有效，门控是否必要？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实验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比较覆盖无恢复、重试、语义门控恢复和完整 REIM。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2514600" cy="3429000"/>
          </a:xfrm>
          <a:prstGeom prst="roundRect">
            <a:avLst/>
          </a:prstGeom>
          <a:solidFill>
            <a:srgbClr val="E8F1F8"/>
          </a:solidFill>
          <a:ln>
            <a:solidFill>
              <a:srgbClr val="326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l">
              <a:spcAft>
                <a:spcPts val="0"/>
              </a:spcAft>
            </a:pPr>
            <a:r>
              <a:rPr sz="1800" b="0" lang="zh-CN">
                <a:solidFill>
                  <a:srgbClr val="18232D"/>
                </a:solidFill>
                <a:latin typeface="Noto Sans CJK SC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224028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lang="zh-CN">
                <a:solidFill>
                  <a:srgbClr val="326D9D"/>
                </a:solidFill>
                <a:latin typeface="Noto Sans CJK SC"/>
              </a:rPr>
              <a:t>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148840" cy="1097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lang="zh-CN">
                <a:solidFill>
                  <a:srgbClr val="172B3A"/>
                </a:solidFill>
                <a:latin typeface="Noto Sans CJK SC"/>
              </a:rPr>
              <a:t>无干预
名义能力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2057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lang="zh-CN">
                <a:solidFill>
                  <a:srgbClr val="667784"/>
                </a:solidFill>
                <a:latin typeface="Noto Sans CJK SC"/>
              </a:rPr>
              <a:t>基准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325880"/>
            <a:ext cx="2514600" cy="3429000"/>
          </a:xfrm>
          <a:prstGeom prst="roundRect">
            <a:avLst/>
          </a:prstGeom>
          <a:solidFill>
            <a:srgbClr val="F4F7F9"/>
          </a:solidFill>
          <a:ln>
            <a:solidFill>
              <a:srgbClr val="667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l">
              <a:spcAft>
                <a:spcPts val="0"/>
              </a:spcAft>
            </a:pPr>
            <a:r>
              <a:rPr sz="1800" b="0" lang="zh-CN">
                <a:solidFill>
                  <a:srgbClr val="18232D"/>
                </a:solidFill>
                <a:latin typeface="Noto Sans CJK SC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645920"/>
            <a:ext cx="224028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lang="zh-CN">
                <a:solidFill>
                  <a:srgbClr val="667784"/>
                </a:solidFill>
                <a:latin typeface="Noto Sans CJK SC"/>
              </a:rPr>
              <a:t>ACT + Random Reset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743200"/>
            <a:ext cx="2148840" cy="1097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lang="zh-CN">
                <a:solidFill>
                  <a:srgbClr val="172B3A"/>
                </a:solidFill>
                <a:latin typeface="Noto Sans CJK SC"/>
              </a:rPr>
              <a:t>失败后一次
fresh-task retry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069080"/>
            <a:ext cx="2057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lang="zh-CN">
                <a:solidFill>
                  <a:srgbClr val="667784"/>
                </a:solidFill>
                <a:latin typeface="Noto Sans CJK SC"/>
              </a:rPr>
              <a:t>额外机会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1325880"/>
            <a:ext cx="2514600" cy="342900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l">
              <a:spcAft>
                <a:spcPts val="0"/>
              </a:spcAft>
            </a:pPr>
            <a:r>
              <a:rPr sz="1800" b="0" lang="zh-CN">
                <a:solidFill>
                  <a:srgbClr val="18232D"/>
                </a:solidFill>
                <a:latin typeface="Noto Sans CJK S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645920"/>
            <a:ext cx="224028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lang="zh-CN">
                <a:solidFill>
                  <a:srgbClr val="3C8F88"/>
                </a:solidFill>
                <a:latin typeface="Noto Sans CJK SC"/>
              </a:rPr>
              <a:t>ACT + Heuristic 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743200"/>
            <a:ext cx="2148840" cy="1097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lang="zh-CN">
                <a:solidFill>
                  <a:srgbClr val="172B3A"/>
                </a:solidFill>
                <a:latin typeface="Noto Sans CJK SC"/>
              </a:rPr>
              <a:t>语义规则触发
同一恢复 actor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069080"/>
            <a:ext cx="2057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lang="zh-CN">
                <a:solidFill>
                  <a:srgbClr val="667784"/>
                </a:solidFill>
                <a:latin typeface="Noto Sans CJK SC"/>
              </a:rPr>
              <a:t>恢复作用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25880"/>
            <a:ext cx="2514600" cy="342900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l">
              <a:spcAft>
                <a:spcPts val="0"/>
              </a:spcAft>
            </a:pPr>
            <a:r>
              <a:rPr sz="1800" b="0" lang="zh-CN">
                <a:solidFill>
                  <a:srgbClr val="18232D"/>
                </a:solidFill>
                <a:latin typeface="Noto Sans CJK SC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645920"/>
            <a:ext cx="224028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lang="zh-CN">
                <a:solidFill>
                  <a:srgbClr val="DF7B2F"/>
                </a:solidFill>
                <a:latin typeface="Noto Sans CJK SC"/>
              </a:rPr>
              <a:t>REIM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19" y="2743200"/>
            <a:ext cx="2148840" cy="10972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50" b="1" lang="zh-CN">
                <a:solidFill>
                  <a:srgbClr val="172B3A"/>
                </a:solidFill>
                <a:latin typeface="Noto Sans CJK SC"/>
              </a:rPr>
              <a:t>因果 LSTM 触发
同一恢复 actor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4069080"/>
            <a:ext cx="2057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 lang="zh-CN">
                <a:solidFill>
                  <a:srgbClr val="667784"/>
                </a:solidFill>
                <a:latin typeface="Noto Sans CJK SC"/>
              </a:rPr>
              <a:t>门控价值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80160" y="5166360"/>
            <a:ext cx="9601200" cy="502920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700" b="1" lang="zh-CN">
                <a:solidFill>
                  <a:srgbClr val="172B3A"/>
                </a:solidFill>
                <a:latin typeface="Noto Sans CJK SC"/>
              </a:rPr>
              <a:t>Heuristic 与 REIM 使用完全相同的恢复 actor → 差异主要来自仲裁规则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主要结果：REIM 将成功率从 73.4% 提升到 90.4%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恢复闭环在 20% 扰动下带来 +17.0 个百分点。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15</a:t>
            </a:r>
          </a:p>
        </p:txBody>
      </p:sp>
      <p:pic>
        <p:nvPicPr>
          <p:cNvPr id="7" name="Picture 6" descr="result_succes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325" y="1051560"/>
            <a:ext cx="5681869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58200" y="1417320"/>
            <a:ext cx="2286000" cy="150876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700" b="1" lang="zh-CN">
                <a:solidFill>
                  <a:srgbClr val="DF7B2F"/>
                </a:solidFill>
                <a:latin typeface="Noto Sans CJK SC"/>
              </a:rPr>
              <a:t>90.4%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REIM task success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3246120"/>
            <a:ext cx="2286000" cy="150876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3C8F88"/>
                </a:solidFill>
                <a:latin typeface="Noto Sans CJK SC"/>
              </a:rPr>
              <a:t>+17.0 pp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相对 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5166360"/>
            <a:ext cx="2560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50" b="1" lang="zh-CN">
                <a:solidFill>
                  <a:srgbClr val="172B3A"/>
                </a:solidFill>
                <a:latin typeface="Noto Sans CJK SC"/>
              </a:rPr>
              <a:t>平均步数 69.3
ACT 为 93.3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REIM 不靠更多干预：成功更高，干预更少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相比启发式门控，REIM 少干预 76 个 episode。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16</a:t>
            </a:r>
          </a:p>
        </p:txBody>
      </p:sp>
      <p:pic>
        <p:nvPicPr>
          <p:cNvPr id="7" name="Picture 6" descr="result_intervention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406" y="1143000"/>
            <a:ext cx="5699907" cy="44805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234440"/>
            <a:ext cx="1600200" cy="123444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3C8F88"/>
                </a:solidFill>
                <a:latin typeface="Noto Sans CJK SC"/>
              </a:rPr>
              <a:t>170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ACT 失败被救回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55480" y="1234440"/>
            <a:ext cx="1600200" cy="123444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3C8F88"/>
                </a:solidFill>
                <a:latin typeface="Noto Sans CJK SC"/>
              </a:rPr>
              <a:t>0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ACT 成功被损害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26679" y="2743200"/>
            <a:ext cx="1600200" cy="123444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DF7B2F"/>
                </a:solidFill>
                <a:latin typeface="Noto Sans CJK SC"/>
              </a:rPr>
              <a:t>+2.7 pp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vs. Heuristic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2743200"/>
            <a:ext cx="1600200" cy="123444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DF7B2F"/>
                </a:solidFill>
                <a:latin typeface="Noto Sans CJK SC"/>
              </a:rPr>
              <a:t>−10.4%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相对干预负担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4389120"/>
            <a:ext cx="3520440" cy="914400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600" b="1" lang="zh-CN">
                <a:solidFill>
                  <a:srgbClr val="172B3A"/>
                </a:solidFill>
                <a:latin typeface="Noto Sans CJK SC"/>
              </a:rPr>
              <a:t>REIM：65.5% episodes 干预
Heuristic：73.1%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扰动越强，恢复闭环的价值越明显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40% 扰动下优势扩大到 +32.0 个百分点。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17</a:t>
            </a:r>
          </a:p>
        </p:txBody>
      </p:sp>
      <p:pic>
        <p:nvPicPr>
          <p:cNvPr id="7" name="Picture 6" descr="result_robustness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048" y="1005840"/>
            <a:ext cx="5967343" cy="4892040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732520" y="1280160"/>
          <a:ext cx="26517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914400"/>
                <a:gridCol w="1005840"/>
              </a:tblGrid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50" b="1" lang="zh-CN">
                          <a:solidFill>
                            <a:srgbClr val="FFFFFF"/>
                          </a:solidFill>
                          <a:latin typeface="Noto Sans CJK SC"/>
                        </a:rPr>
                        <a:t>噪声</a:t>
                      </a:r>
                    </a:p>
                  </a:txBody>
                  <a:tcPr marL="45720" marR="45720" marT="27432" marB="27432" anchor="ctr"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lang="zh-CN">
                          <a:solidFill>
                            <a:srgbClr val="FFFFFF"/>
                          </a:solidFill>
                          <a:latin typeface="Noto Sans CJK SC"/>
                        </a:rPr>
                        <a:t>ACT</a:t>
                      </a:r>
                    </a:p>
                  </a:txBody>
                  <a:tcPr marL="45720" marR="45720" marT="27432" marB="27432" anchor="ctr"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lang="zh-CN">
                          <a:solidFill>
                            <a:srgbClr val="FFFFFF"/>
                          </a:solidFill>
                          <a:latin typeface="Noto Sans CJK SC"/>
                        </a:rPr>
                        <a:t>REIM</a:t>
                      </a:r>
                    </a:p>
                  </a:txBody>
                  <a:tcPr marL="45720" marR="45720" marT="27432" marB="27432" anchor="ctr">
                    <a:solidFill>
                      <a:srgbClr val="172B3A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100.0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100.0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10%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97.0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99.5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20%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76.5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92.0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30%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53.5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79.5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algn="l"/>
                      <a:r>
                        <a:rPr sz="1250" b="1" lang="zh-CN">
                          <a:solidFill>
                            <a:srgbClr val="DF7B2F"/>
                          </a:solidFill>
                          <a:latin typeface="Noto Sans CJK SC"/>
                        </a:rPr>
                        <a:t>40%</a:t>
                      </a:r>
                    </a:p>
                  </a:txBody>
                  <a:tcPr marL="45720" marR="45720" marT="27432" marB="27432" anchor="ctr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lang="zh-CN">
                          <a:solidFill>
                            <a:srgbClr val="DF7B2F"/>
                          </a:solidFill>
                          <a:latin typeface="Noto Sans CJK SC"/>
                        </a:rPr>
                        <a:t>31.5</a:t>
                      </a:r>
                    </a:p>
                  </a:txBody>
                  <a:tcPr marL="45720" marR="45720" marT="27432" marB="27432" anchor="ctr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lang="zh-CN">
                          <a:solidFill>
                            <a:srgbClr val="DF7B2F"/>
                          </a:solidFill>
                          <a:latin typeface="Noto Sans CJK SC"/>
                        </a:rPr>
                        <a:t>63.5</a:t>
                      </a:r>
                    </a:p>
                  </a:txBody>
                  <a:tcPr marL="45720" marR="45720" marT="27432" marB="27432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823960" y="5394960"/>
            <a:ext cx="24688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lang="zh-CN">
                <a:solidFill>
                  <a:srgbClr val="667784"/>
                </a:solidFill>
                <a:latin typeface="Noto Sans CJK SC"/>
              </a:rPr>
              <a:t>单位：task success (%)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组件消融：大提升来自恢复，进一步提升来自学习式门控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消融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相同恢复 actor 下，LSTM 同时提高成功率并减少干预。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18</a:t>
            </a:r>
          </a:p>
        </p:txBody>
      </p:sp>
      <p:pic>
        <p:nvPicPr>
          <p:cNvPr id="7" name="Picture 6" descr="Figure3_final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9384"/>
            <a:ext cx="6583680" cy="42449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43800" y="1371600"/>
            <a:ext cx="3657600" cy="292608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ACT，无恢复：73.4%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Heuristic gate + recovery：87.7%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LSTM gate + recovery：90.4%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650">
                <a:solidFill>
                  <a:srgbClr val="18232D"/>
                </a:solidFill>
                <a:latin typeface="Noto Sans CJK SC"/>
              </a:defRPr>
            </a:pPr>
            <a:r>
              <a:t>干预率：73.1% → 65.5%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43800" y="4434840"/>
            <a:ext cx="3657600" cy="960120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" rIns="45720"/>
          <a:lstStyle/>
          <a:p>
            <a:pPr algn="ctr">
              <a:spcAft>
                <a:spcPts val="0"/>
              </a:spcAft>
            </a:pPr>
            <a:r>
              <a:rPr sz="1750" b="1" lang="zh-CN">
                <a:solidFill>
                  <a:srgbClr val="172B3A"/>
                </a:solidFill>
                <a:latin typeface="Noto Sans CJK SC"/>
              </a:rPr>
              <a:t>证据支持两层结论
恢复动作有效 + 学习门控更优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门控阈值：在相同干预负担下，LSTM 仍显著更好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门控诊断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τ=0.175 与启发式干预率几乎相同，但成功率高 6.5 pp。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19</a:t>
            </a:r>
          </a:p>
        </p:txBody>
      </p:sp>
      <p:pic>
        <p:nvPicPr>
          <p:cNvPr id="7" name="Picture 6" descr="Figure4_gate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906" y="1005840"/>
            <a:ext cx="6842987" cy="4983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366760" y="1234440"/>
            <a:ext cx="2377440" cy="128016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300" b="1" lang="zh-CN">
                <a:solidFill>
                  <a:srgbClr val="DF7B2F"/>
                </a:solidFill>
                <a:latin typeface="Noto Sans CJK SC"/>
              </a:rPr>
              <a:t>92.5% vs 86.0%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matched-burden success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2788920"/>
            <a:ext cx="2377440" cy="128016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300" b="1" lang="zh-CN">
                <a:solidFill>
                  <a:srgbClr val="3C8F88"/>
                </a:solidFill>
                <a:latin typeface="Noto Sans CJK SC"/>
              </a:rPr>
              <a:t>76.5% vs 76.0%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intervention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66760" y="4343400"/>
            <a:ext cx="2377440" cy="1143000"/>
          </a:xfrm>
          <a:prstGeom prst="roundRect">
            <a:avLst/>
          </a:prstGeom>
          <a:solidFill>
            <a:srgbClr val="F4F7F9"/>
          </a:solidFill>
          <a:ln>
            <a:solidFill>
              <a:srgbClr val="172B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400" b="1" lang="zh-CN">
                <a:solidFill>
                  <a:srgbClr val="172B3A"/>
                </a:solidFill>
                <a:latin typeface="Noto Sans CJK SC"/>
              </a:rPr>
              <a:t>p = 0.0044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exact paired test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风险监测器：闭环有效，但提前预测能力有边界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诚实诊断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标准窗口 F1 很高；严格未来事件 F1 为 60.0%。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20</a:t>
            </a:r>
          </a:p>
        </p:txBody>
      </p:sp>
      <p:pic>
        <p:nvPicPr>
          <p:cNvPr id="7" name="Picture 6" descr="Figure3_det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49396"/>
            <a:ext cx="4709160" cy="3959207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52160" y="1234440"/>
          <a:ext cx="5257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31720"/>
              </a:tblGrid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1" lang="zh-CN">
                          <a:solidFill>
                            <a:srgbClr val="FFFFFF"/>
                          </a:solidFill>
                          <a:latin typeface="Noto Sans CJK SC"/>
                        </a:rPr>
                        <a:t>诊断</a:t>
                      </a:r>
                    </a:p>
                  </a:txBody>
                  <a:tcPr marL="45720" marR="45720" marT="27432" marB="27432" anchor="ctr"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1" lang="zh-CN">
                          <a:solidFill>
                            <a:srgbClr val="FFFFFF"/>
                          </a:solidFill>
                          <a:latin typeface="Noto Sans CJK SC"/>
                        </a:rPr>
                        <a:t>结果</a:t>
                      </a:r>
                    </a:p>
                  </a:txBody>
                  <a:tcPr marL="45720" marR="45720" marT="27432" marB="27432" anchor="ctr">
                    <a:solidFill>
                      <a:srgbClr val="172B3A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Inclusive Precision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91.8%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Inclusive Recall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92.3%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Inclusive F1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92.1%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当前事件正窗口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86.1%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Strict future F1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60.0%</a:t>
                      </a:r>
                    </a:p>
                  </a:txBody>
                  <a:tcPr marL="45720" marR="45720" marT="27432" marB="27432" anchor="ctr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事件前轨迹告警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0" lang="zh-CN">
                          <a:solidFill>
                            <a:srgbClr val="18232D"/>
                          </a:solidFill>
                          <a:latin typeface="Noto Sans CJK SC"/>
                        </a:rPr>
                        <a:t>191/258 = 74.0%</a:t>
                      </a:r>
                    </a:p>
                  </a:txBody>
                  <a:tcPr marL="45720" marR="45720" marT="27432" marB="27432" anchor="ctr">
                    <a:solidFill>
                      <a:srgbClr val="F4F7F9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algn="l"/>
                      <a:r>
                        <a:rPr sz="1320" b="1" lang="zh-CN">
                          <a:solidFill>
                            <a:srgbClr val="DF7B2F"/>
                          </a:solidFill>
                          <a:latin typeface="Noto Sans CJK SC"/>
                        </a:rPr>
                        <a:t>中位提前量</a:t>
                      </a:r>
                    </a:p>
                  </a:txBody>
                  <a:tcPr marL="45720" marR="45720" marT="27432" marB="27432" anchor="ctr">
                    <a:solidFill>
                      <a:srgbClr val="FFF0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20" b="1" lang="zh-CN">
                          <a:solidFill>
                            <a:srgbClr val="DF7B2F"/>
                          </a:solidFill>
                          <a:latin typeface="Noto Sans CJK SC"/>
                        </a:rPr>
                        <a:t>1 step</a:t>
                      </a:r>
                    </a:p>
                  </a:txBody>
                  <a:tcPr marL="45720" marR="45720" marT="27432" marB="27432" anchor="ctr">
                    <a:solidFill>
                      <a:srgbClr val="FFF0E6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897880" y="5623560"/>
            <a:ext cx="5166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lang="zh-CN">
                <a:solidFill>
                  <a:srgbClr val="DF7B2F"/>
                </a:solidFill>
                <a:latin typeface="Noto Sans CJK SC"/>
              </a:rPr>
              <a:t>结论依赖端到端闭环结果，而不是单独包装分类指标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一条完整恢复轨迹：ACT 超时，REIM 在 62 步完成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定性案例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风险在轨迹尚可修复时触发，恢复 actor 完成后续抓取与搬运。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21</a:t>
            </a:r>
          </a:p>
        </p:txBody>
      </p:sp>
      <p:pic>
        <p:nvPicPr>
          <p:cNvPr id="7" name="Picture 6" descr="Figure5_operation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860" y="932688"/>
            <a:ext cx="987551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9875520" cy="47548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lang="zh-CN">
                <a:solidFill>
                  <a:srgbClr val="172B3A"/>
                </a:solidFill>
                <a:latin typeface="Noto Sans CJK SC"/>
              </a:rPr>
              <a:t>结论：REIM 实现选择性早期纠正，而非万能失败修复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283464"/>
            <a:ext cx="10515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lang="zh-CN">
                <a:solidFill>
                  <a:srgbClr val="667784"/>
                </a:solidFill>
                <a:latin typeface="Noto Sans CJK SC"/>
              </a:rPr>
              <a:t>总结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813816"/>
            <a:ext cx="11155680" cy="22860"/>
          </a:xfrm>
          <a:prstGeom prst="rect">
            <a:avLst/>
          </a:prstGeom>
          <a:solidFill>
            <a:srgbClr val="D7E0E6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6245352"/>
            <a:ext cx="10652760" cy="402336"/>
          </a:xfrm>
          <a:prstGeom prst="roundRect">
            <a:avLst/>
          </a:prstGeom>
          <a:solidFill>
            <a:srgbClr val="F4F7F9"/>
          </a:solidFill>
          <a:ln>
            <a:solidFill>
              <a:srgbClr val="D7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120" b="1" lang="zh-CN">
                <a:solidFill>
                  <a:srgbClr val="172B3A"/>
                </a:solidFill>
                <a:latin typeface="Noto Sans CJK SC"/>
              </a:rPr>
              <a:t>本页结论  触发分布对齐 + 因果门控 + 持久恢复构成一个可审计闭环。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318504"/>
            <a:ext cx="36576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lang="zh-CN">
                <a:solidFill>
                  <a:srgbClr val="667784"/>
                </a:solidFill>
                <a:latin typeface="Noto Sans CJK SC"/>
              </a:rPr>
              <a:t>22</a:t>
            </a:r>
          </a:p>
        </p:txBody>
      </p:sp>
      <p:pic>
        <p:nvPicPr>
          <p:cNvPr id="7" name="Picture 6" descr="reim_closed_loop_z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29226"/>
            <a:ext cx="6629400" cy="31765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43800" y="1234440"/>
            <a:ext cx="1645920" cy="1234440"/>
          </a:xfrm>
          <a:prstGeom prst="roundRect">
            <a:avLst/>
          </a:prstGeom>
          <a:solidFill>
            <a:srgbClr val="FFF0E6"/>
          </a:solidFill>
          <a:ln>
            <a:solidFill>
              <a:srgbClr val="DF7B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3100" b="1" lang="zh-CN">
                <a:solidFill>
                  <a:srgbClr val="DF7B2F"/>
                </a:solidFill>
                <a:latin typeface="Noto Sans CJK SC"/>
              </a:rPr>
              <a:t>90.4%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任务成功率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234440"/>
            <a:ext cx="1645920" cy="1234440"/>
          </a:xfrm>
          <a:prstGeom prst="roundRect">
            <a:avLst/>
          </a:prstGeom>
          <a:solidFill>
            <a:srgbClr val="E7F4F2"/>
          </a:solidFill>
          <a:ln>
            <a:solidFill>
              <a:srgbClr val="3C8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3C8F88"/>
                </a:solidFill>
                <a:latin typeface="Noto Sans CJK SC"/>
              </a:rPr>
              <a:t>+17.0 pp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相对 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2743200"/>
            <a:ext cx="1645920" cy="1234440"/>
          </a:xfrm>
          <a:prstGeom prst="roundRect">
            <a:avLst/>
          </a:prstGeom>
          <a:solidFill>
            <a:srgbClr val="E8F1F8"/>
          </a:solidFill>
          <a:ln>
            <a:solidFill>
              <a:srgbClr val="326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>
              <a:spcAft>
                <a:spcPts val="0"/>
              </a:spcAft>
            </a:pPr>
            <a:r>
              <a:rPr sz="2500" b="1" lang="zh-CN">
                <a:solidFill>
                  <a:srgbClr val="326D9D"/>
                </a:solidFill>
                <a:latin typeface="Noto Sans CJK SC"/>
              </a:rPr>
              <a:t>−10.4%</a:t>
            </a:r>
          </a:p>
          <a:p>
            <a:pPr algn="ctr"/>
            <a:r>
              <a:rPr sz="1150" b="1" lang="zh-CN">
                <a:solidFill>
                  <a:srgbClr val="172B3A"/>
                </a:solidFill>
                <a:latin typeface="Noto Sans CJK SC"/>
              </a:rPr>
              <a:t>vs. heuristic burden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4343400"/>
            <a:ext cx="3657600" cy="1325880"/>
          </a:xfrm>
          <a:prstGeom prst="rect">
            <a:avLst/>
          </a:prstGeom>
          <a:noFill/>
        </p:spPr>
        <p:txBody>
          <a:bodyPr wrap="square" lIns="45720" rIns="36576" tIns="0">
            <a:spAutoFit/>
          </a:bodyPr>
          <a:lstStyle/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350">
                <a:solidFill>
                  <a:srgbClr val="18232D"/>
                </a:solidFill>
                <a:latin typeface="Noto Sans CJK SC"/>
              </a:defRPr>
            </a:pPr>
            <a:r>
              <a:t>边界：单任务、21D privileged state、无实体实验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350">
                <a:solidFill>
                  <a:srgbClr val="18232D"/>
                </a:solidFill>
                <a:latin typeface="Noto Sans CJK SC"/>
              </a:defRPr>
            </a:pPr>
            <a:r>
              <a:t>约 99% 触发发生在首次 lift 前</a:t>
            </a:r>
          </a:p>
          <a:p>
            <a:pPr>
              <a:buChar char="•"/>
              <a:lnSpc>
                <a:spcPct val="108000"/>
              </a:lnSpc>
              <a:spcAft>
                <a:spcPts val="800"/>
              </a:spcAft>
              <a:defRPr sz="1350">
                <a:solidFill>
                  <a:srgbClr val="18232D"/>
                </a:solidFill>
                <a:latin typeface="Noto Sans CJK SC"/>
              </a:defRPr>
            </a:pPr>
            <a:r>
              <a:t>下一步：post-drop、多任务、视觉与真实 Sawyer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REIM 项目技术精讲</dc:title>
  <dc:subject>ACT, causal LSTM and trigger-aligned recovery imitation on Meta-World PickPlace</dc:subject>
  <dc:creator>REIM Project</dc:creator>
  <cp:keywords>REIM, ACT, Meta-World, Sawyer, failure recovery</cp:keywords>
  <dc:description>generated using python-pptx</dc:description>
  <cp:lastModifiedBy>REIM Project</cp:lastModifiedBy>
  <cp:revision>1</cp:revision>
  <dcterms:created xsi:type="dcterms:W3CDTF">2026-08-04T00:00:00Z</dcterms:created>
  <dcterms:modified xsi:type="dcterms:W3CDTF">2026-08-04T00:00:00Z</dcterms:modified>
  <cp:category/>
</cp:coreProperties>
</file>
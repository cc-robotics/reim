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a4c8e97d6f4113" /><Relationship Type="http://schemas.openxmlformats.org/officeDocument/2006/relationships/extended-properties" Target="/docProps/app.xml" Id="R97159c445a4148b3" /><Relationship Type="http://schemas.openxmlformats.org/officeDocument/2006/relationships/officeDocument" Target="/ppt/presentation.xml" Id="R81bbdf01973a40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a71c53e6f4440b"/>
  </p:sldMasterIdLst>
  <p:notesMasterIdLst>
    <p:notesMasterId xmlns:r="http://schemas.openxmlformats.org/officeDocument/2006/relationships" r:id="R503a14e1c41c4193"/>
  </p:notesMasterIdLst>
  <p:sldIdLst>
    <p:sldId xmlns:r="http://schemas.openxmlformats.org/officeDocument/2006/relationships" id="256" r:id="Rf780e470e28a4831"/>
  </p:sldIdLst>
  <p:sldSz cx="12192000" cy="476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7008ac672f4789" /><Relationship Type="http://schemas.openxmlformats.org/officeDocument/2006/relationships/slideMaster" Target="/ppt/slideMasters/slideMaster1.xml" Id="Rf1a71c53e6f4440b" /><Relationship Type="http://schemas.openxmlformats.org/officeDocument/2006/relationships/notesMaster" Target="/ppt/notesMasters/notesMaster1.xml" Id="R503a14e1c41c4193" /><Relationship Type="http://schemas.openxmlformats.org/officeDocument/2006/relationships/presProps" Target="/ppt/presProps.xml" Id="R6d10ba93d5834a98" /><Relationship Type="http://schemas.openxmlformats.org/officeDocument/2006/relationships/tableStyles" Target="/ppt/tableStyles.xml" Id="Rdad5fc4f1b5442a3" /><Relationship Type="http://schemas.openxmlformats.org/officeDocument/2006/relationships/slide" Target="/ppt/slides/slide1.xml" Id="Rf780e470e28a48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bd3c8c8c7846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ec94a9d1ec4b67" /><Relationship Type="http://schemas.openxmlformats.org/officeDocument/2006/relationships/notesMaster" Target="/ppt/notesMasters/notesMaster1.xml" Id="Rf424f2ee08b444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1 overview source. All robot frames are local Meta-World/MuJoCo simulation outputs from results/figures/recovery_operation_sequence_frames. Primary result: ACT 73.4% and REIM 90.4% task success over 1,000 paired PickPlace episodes; paired gain +17.0 percentage points with 95% CI [+14.7,+19.3]. Metrics come from paper_assets/reim_macros.tex and paper_assets/Table1_final_baseline.tex. Recovery training counts are 42,386 train pairs and 8,212 disjoint validation pairs, from the audited project documentation. The figure shows simulation only and makes no real-robot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d9162858941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f323efd4724f6b" /><Relationship Type="http://schemas.openxmlformats.org/officeDocument/2006/relationships/slideLayout" Target="/ppt/slideLayouts/slideLayout1.xml" Id="R49d8f06c71154c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d8f06c71154c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3c31cf317480a" /><Relationship Type="http://schemas.openxmlformats.org/officeDocument/2006/relationships/image" Target="/ppt/media/image.png" Id="Rbfb0dd44143a4110" /><Relationship Type="http://schemas.openxmlformats.org/officeDocument/2006/relationships/image" Target="/ppt/media/image2.png" Id="R8d0e47a9656749cd" /><Relationship Type="http://schemas.openxmlformats.org/officeDocument/2006/relationships/image" Target="/ppt/media/image3.png" Id="Ra21e77f8b6c84c53" /><Relationship Type="http://schemas.openxmlformats.org/officeDocument/2006/relationships/image" Target="/ppt/media/image4.png" Id="Rdf2c1680ae8340ae" /><Relationship Type="http://schemas.openxmlformats.org/officeDocument/2006/relationships/image" Target="/ppt/media/image5.png" Id="Rf9dc27eace1646b0" /><Relationship Type="http://schemas.openxmlformats.org/officeDocument/2006/relationships/image" Target="/ppt/media/image6.png" Id="Redf6b46d939848a7" /><Relationship Type="http://schemas.openxmlformats.org/officeDocument/2006/relationships/image" Target="/ppt/media/image7.png" Id="R74425e6f067e453f" /><Relationship Type="http://schemas.openxmlformats.org/officeDocument/2006/relationships/image" Target="/ppt/media/image8.png" Id="R81ba831a5baa44d0" /><Relationship Type="http://schemas.openxmlformats.org/officeDocument/2006/relationships/chart" Target="/ppt/slides/charts/chart1.xml" Id="R752eca73de454667" /><Relationship Type="http://schemas.openxmlformats.org/officeDocument/2006/relationships/notesSlide" Target="/ppt/notesSlides/notesSlide1.xml" Id="R7f2ec5e081b645d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Task success (%)</c:v>
          </c:tx>
          <c:spPr>
            <a:solidFill xmlns:a="http://schemas.openxmlformats.org/drawingml/2006/main">
              <a:srgbClr val="3E6FA3"/>
            </a:solidFill>
            <a:ln xmlns:a="http://schemas.openxmlformats.org/drawingml/2006/main" w="0">
              <a:solidFill>
                <a:srgbClr val="FFFFFF"/>
              </a:solidFill>
              <a:prstDash val="solid"/>
            </a:ln>
          </c:spPr>
          <c:dPt>
            <c:idx val="0"/>
            <c:invertIfNegative val="0"/>
            <c:spPr>
              <a:solidFill xmlns:a="http://schemas.openxmlformats.org/drawingml/2006/main">
                <a:srgbClr val="3E6FA3"/>
              </a:solidFill>
              <a:ln xmlns:a="http://schemas.openxmlformats.org/drawingml/2006/main" w="4763">
                <a:solidFill>
                  <a:srgbClr val="3E6FA3"/>
                </a:solidFill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3E8764"/>
              </a:solidFill>
              <a:ln xmlns:a="http://schemas.openxmlformats.org/drawingml/2006/main" w="4763">
                <a:solidFill>
                  <a:srgbClr val="3E8764"/>
                </a:solidFill>
                <a:prstDash val="solid"/>
              </a:ln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242424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73.4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242424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350" b="1">
                        <a:solidFill>
                          <a:srgbClr val="242424"/>
                        </a:solidFill>
                        <a:latin typeface="Times New Roman"/>
                        <a:ea typeface="Times New Roman"/>
                        <a:cs typeface="Times New Roman"/>
                      </a:rPr>
                      <a:t>90.4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50" b="1">
                      <a:solidFill>
                        <a:srgbClr val="242424"/>
                      </a:solidFill>
                      <a:latin typeface="Times New Roman"/>
                      <a:ea typeface="Times New Roman"/>
                      <a:cs typeface="Times New Roman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2"/>
              <c:pt idx="0">
                <c:v>ACT</c:v>
              </c:pt>
              <c:pt idx="1">
                <c:v>REIM</c:v>
              </c:pt>
            </c:strLit>
          </c:cat>
          <c:val>
            <c:numLit>
              <c:formatCode>0.0%</c:formatCode>
              <c:ptCount val="2"/>
              <c:pt idx="0">
                <c:v>0.734</c:v>
              </c:pt>
              <c:pt idx="1">
                <c:v>0.904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242424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5F687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6872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Problem panel">
            <a:extLst xmlns:a="http://schemas.openxmlformats.org/drawingml/2006/main">
              <a:ext uri="{FF2B5EF4-FFF2-40B4-BE49-F238E27FC236}">
                <a16:creationId xmlns:a16="http://schemas.microsoft.com/office/drawing/2014/main" id="{82F75307-24CF-4046-9E56-1BDA40FF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5250"/>
            <a:ext cx="2743200" cy="4572000"/>
          </a:xfrm>
          <a:prstGeom xmlns:a="http://schemas.openxmlformats.org/drawingml/2006/main" prst="roundRect">
            <a:avLst>
              <a:gd name="adj" fmla="val 4861"/>
            </a:avLst>
          </a:prstGeom>
          <a:solidFill xmlns:a="http://schemas.openxmlformats.org/drawingml/2006/main">
            <a:srgbClr val="FEFDFC"/>
          </a:solidFill>
          <a:ln xmlns:a="http://schemas.openxmlformats.org/drawingml/2006/main" w="10478">
            <a:solidFill>
              <a:srgbClr val="C9CDD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415DA-994A-460E-BFAF-BB2A7B83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809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6199C-7AF0-4A9B-B9A0-F205B567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097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9B3E3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9B3E3E"/>
                </a:solidFill>
                <a:latin typeface="Times New Roman"/>
                <a:ea typeface="Times New Roman"/>
                <a:cs typeface="Times New Roman"/>
              </a:rPr>
              <a:t>Problem</a:t>
            </a:r>
          </a:p>
        </p:txBody>
      </p:sp>
      <p:sp>
        <p:nvSpPr>
          <p:cNvPr id="4" name="REIM framework panel">
            <a:extLst xmlns:a="http://schemas.openxmlformats.org/drawingml/2006/main">
              <a:ext uri="{FF2B5EF4-FFF2-40B4-BE49-F238E27FC236}">
                <a16:creationId xmlns:a16="http://schemas.microsoft.com/office/drawing/2014/main" id="{2D914BB3-1CC9-4769-AA7F-A4905B42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95250"/>
            <a:ext cx="5905500" cy="4572000"/>
          </a:xfrm>
          <a:prstGeom xmlns:a="http://schemas.openxmlformats.org/drawingml/2006/main" prst="roundRect">
            <a:avLst>
              <a:gd name="adj" fmla="val 2917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10478">
            <a:solidFill>
              <a:srgbClr val="C9CD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BF9AB-01EE-46F8-8FA6-43554854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9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D78AD-9CCB-4811-8E66-494F508E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0975"/>
            <a:ext cx="530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3E6FA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3E6FA3"/>
                </a:solidFill>
                <a:latin typeface="Times New Roman"/>
                <a:ea typeface="Times New Roman"/>
                <a:cs typeface="Times New Roman"/>
              </a:rPr>
              <a:t>REIM framework</a:t>
            </a:r>
          </a:p>
        </p:txBody>
      </p:sp>
      <p:sp>
        <p:nvSpPr>
          <p:cNvPr id="7" name="Closed-loop result panel">
            <a:extLst xmlns:a="http://schemas.openxmlformats.org/drawingml/2006/main">
              <a:ext uri="{FF2B5EF4-FFF2-40B4-BE49-F238E27FC236}">
                <a16:creationId xmlns:a16="http://schemas.microsoft.com/office/drawing/2014/main" id="{7788E93F-E9E3-4B42-95DF-50DC9988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5250"/>
            <a:ext cx="2971800" cy="4572000"/>
          </a:xfrm>
          <a:prstGeom xmlns:a="http://schemas.openxmlformats.org/drawingml/2006/main" prst="roundRect">
            <a:avLst>
              <a:gd name="adj" fmla="val 4487"/>
            </a:avLst>
          </a:prstGeom>
          <a:solidFill xmlns:a="http://schemas.openxmlformats.org/drawingml/2006/main">
            <a:srgbClr val="FCFEFD"/>
          </a:solidFill>
          <a:ln xmlns:a="http://schemas.openxmlformats.org/drawingml/2006/main" w="10478">
            <a:solidFill>
              <a:srgbClr val="C9CD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7837C-C4E2-452B-A0EE-B723C600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(c)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1C349-615C-4333-99D7-C9C8CFFE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80975"/>
            <a:ext cx="2371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rPr>
              <a:t>Closed-loop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6C5E6-8B5C-46AD-8FDA-C208C49D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666750"/>
            <a:ext cx="1104900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97823"/>
            </a:solidFill>
            <a:prstDash val="solid"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0dd44143a41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" y="68580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2E1B9-5929-4375-8438-489CC3D8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66750"/>
            <a:ext cx="1104900" cy="11049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9B3E3E"/>
            </a:solidFill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e47a9656749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57350" y="68580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4B625-B33F-4624-B44C-B20B976A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76325"/>
            <a:ext cx="76200" cy="76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9D57F-44DB-41F6-B2A7-1D2A0D54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076325"/>
            <a:ext cx="76200" cy="76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0" name=""/>
          <p:cNvCxnSpPr>
            <a:stCxn xmlns:a="http://schemas.openxmlformats.org/drawingml/2006/main" id="14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1543050" y="1114425"/>
            <a:ext cx="285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B3E3E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63DC2-8091-4721-BDCF-3DA99F29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79070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B9782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B97823"/>
                </a:solidFill>
                <a:latin typeface="Times New Roman"/>
                <a:ea typeface="Times New Roman"/>
                <a:cs typeface="Times New Roman"/>
              </a:rPr>
              <a:t>object shifted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60A809-A1D8-4418-A9BB-82B1071F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179070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9B3E3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9B3E3E"/>
                </a:solidFill>
                <a:latin typeface="Times New Roman"/>
                <a:ea typeface="Times New Roman"/>
                <a:cs typeface="Times New Roman"/>
              </a:rPr>
              <a:t>ACT timeout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97329-754F-4897-8652-5D62270B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3360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Predicted action chunk</a:t>
            </a:r>
          </a:p>
        </p:txBody>
      </p:sp>
      <p:sp>
        <p:nvSpPr>
          <p:cNvPr id="20" name="Action chunk step 1">
            <a:extLst xmlns:a="http://schemas.openxmlformats.org/drawingml/2006/main">
              <a:ext uri="{FF2B5EF4-FFF2-40B4-BE49-F238E27FC236}">
                <a16:creationId xmlns:a16="http://schemas.microsoft.com/office/drawing/2014/main" id="{6B0D8D69-742C-4E42-974A-A4D2C998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47925"/>
            <a:ext cx="219075" cy="2667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3E6FA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1" name="Action chunk step 2">
            <a:extLst xmlns:a="http://schemas.openxmlformats.org/drawingml/2006/main">
              <a:ext uri="{FF2B5EF4-FFF2-40B4-BE49-F238E27FC236}">
                <a16:creationId xmlns:a16="http://schemas.microsoft.com/office/drawing/2014/main" id="{19652B76-EB34-435F-934D-FDD8831F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219075" cy="2667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3E6FA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2" name="Action chunk step 3">
            <a:extLst xmlns:a="http://schemas.openxmlformats.org/drawingml/2006/main">
              <a:ext uri="{FF2B5EF4-FFF2-40B4-BE49-F238E27FC236}">
                <a16:creationId xmlns:a16="http://schemas.microsoft.com/office/drawing/2014/main" id="{00E76B60-5F5D-4EFF-B17E-F46B9205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47925"/>
            <a:ext cx="219075" cy="2667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3E6FA3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3" name="Action chunk step 4">
            <a:extLst xmlns:a="http://schemas.openxmlformats.org/drawingml/2006/main">
              <a:ext uri="{FF2B5EF4-FFF2-40B4-BE49-F238E27FC236}">
                <a16:creationId xmlns:a16="http://schemas.microsoft.com/office/drawing/2014/main" id="{917BAFBC-6862-4D75-A7E9-52CB42EA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47925"/>
            <a:ext cx="219075" cy="2667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9CB4CA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4" name="Action chunk step 5">
            <a:extLst xmlns:a="http://schemas.openxmlformats.org/drawingml/2006/main">
              <a:ext uri="{FF2B5EF4-FFF2-40B4-BE49-F238E27FC236}">
                <a16:creationId xmlns:a16="http://schemas.microsoft.com/office/drawing/2014/main" id="{CE642EFA-695A-4737-B00F-2498B64F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47925"/>
            <a:ext cx="219075" cy="2667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9CB4CA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5" name="Action chunk step 6">
            <a:extLst xmlns:a="http://schemas.openxmlformats.org/drawingml/2006/main">
              <a:ext uri="{FF2B5EF4-FFF2-40B4-BE49-F238E27FC236}">
                <a16:creationId xmlns:a16="http://schemas.microsoft.com/office/drawing/2014/main" id="{C5033340-7006-4AB8-A1C3-EC9628A8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47925"/>
            <a:ext cx="219075" cy="2667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9CB4CA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6" name="Action chunk step 7">
            <a:extLst xmlns:a="http://schemas.openxmlformats.org/drawingml/2006/main">
              <a:ext uri="{FF2B5EF4-FFF2-40B4-BE49-F238E27FC236}">
                <a16:creationId xmlns:a16="http://schemas.microsoft.com/office/drawing/2014/main" id="{347324DE-E7FB-4A3C-9057-3DD1E132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47925"/>
            <a:ext cx="219075" cy="2667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9CB4CA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7" name="Action chunk step 8">
            <a:extLst xmlns:a="http://schemas.openxmlformats.org/drawingml/2006/main">
              <a:ext uri="{FF2B5EF4-FFF2-40B4-BE49-F238E27FC236}">
                <a16:creationId xmlns:a16="http://schemas.microsoft.com/office/drawing/2014/main" id="{84F0EC5A-05A0-4DBC-BFFC-BC767822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47925"/>
            <a:ext cx="219075" cy="2667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9CB4CA"/>
          </a:solidFill>
          <a:ln xmlns:a="http://schemas.openxmlformats.org/drawingml/2006/main" w="6668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2EEF79-19EB-4B31-9E6F-622693DD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764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3E3E"/>
          </a:solidFill>
          <a:ln xmlns:a="http://schemas.openxmlformats.org/drawingml/2006/main" w="7620">
            <a:solidFill>
              <a:srgbClr val="9B3E3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4996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!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DDECB4-96F7-4C77-B1BB-360830F8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032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9B3E3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9B3E3E"/>
                </a:solidFill>
                <a:latin typeface="Times New Roman"/>
                <a:ea typeface="Times New Roman"/>
                <a:cs typeface="Times New Roman"/>
              </a:rPr>
              <a:t>disturbance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0BB49C-D7EB-444D-8A4C-17A189FF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05150"/>
            <a:ext cx="23622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CF7F6"/>
          </a:solidFill>
          <a:ln xmlns:a="http://schemas.openxmlformats.org/drawingml/2006/main" w="9525">
            <a:solidFill>
              <a:srgbClr val="E5C9C5"/>
            </a:solidFill>
            <a:prstDash val="solid"/>
          </a:ln>
        </p:spPr>
        <p:txBody>
          <a:bodyPr xmlns:a="http://schemas.openxmlformats.org/drawingml/2006/main" wrap="square" lIns="66675" tIns="38100" rIns="66675" bIns="38100" anchor="ctr">
            <a:normAutofit fontScale="72051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The state leaves the demonstration distribution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B82EBC-C8C2-46A9-AB78-9051CB7C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705225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9B3E3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9B3E3E"/>
                </a:solidFill>
                <a:latin typeface="Times New Roman"/>
                <a:ea typeface="Times New Roman"/>
                <a:cs typeface="Times New Roman"/>
              </a:rPr>
              <a:t>Stale action chunk</a:t>
            </a:r>
          </a:p>
          <a:p xmlns:a="http://schemas.openxmlformats.org/drawingml/2006/main">
            <a:pPr algn="ctr">
              <a:defRPr sz="1500" b="0" i="0">
                <a:solidFill>
                  <a:srgbClr val="9B3E3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9B3E3E"/>
                </a:solidFill>
                <a:latin typeface="Times New Roman"/>
                <a:ea typeface="Times New Roman"/>
                <a:cs typeface="Times New Roman"/>
              </a:rPr>
              <a:t>No recovery available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F5F4A8-54C7-4732-A5BF-675D9932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23900"/>
            <a:ext cx="1143000" cy="1143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5F6872"/>
            </a:solidFill>
            <a:prstDash val="solid"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e77f8b6c84c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7550" y="742950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CE69FD-CEFD-4378-88DB-DC8C4252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859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F68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5F6872"/>
                </a:solidFill>
                <a:latin typeface="Times New Roman"/>
                <a:ea typeface="Times New Roman"/>
                <a:cs typeface="Times New Roman"/>
              </a:rPr>
              <a:t>robot state  sₜ</a:t>
            </a:r>
          </a:p>
        </p:txBody>
      </p:sp>
      <p:sp>
        <p:nvSpPr>
          <p:cNvPr id="35" name="ACT nominal task policy">
            <a:extLst xmlns:a="http://schemas.openxmlformats.org/drawingml/2006/main">
              <a:ext uri="{FF2B5EF4-FFF2-40B4-BE49-F238E27FC236}">
                <a16:creationId xmlns:a16="http://schemas.microsoft.com/office/drawing/2014/main" id="{2E23AC5F-63BA-48AF-8443-99085F40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85800"/>
            <a:ext cx="13335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EF4F9"/>
          </a:solidFill>
          <a:ln xmlns:a="http://schemas.openxmlformats.org/drawingml/2006/main" w="13335">
            <a:solidFill>
              <a:srgbClr val="3E6FA3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9518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E6FA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3E6FA3"/>
                </a:solidFill>
                <a:latin typeface="Times New Roman"/>
                <a:ea typeface="Times New Roman"/>
                <a:cs typeface="Times New Roman"/>
              </a:rPr>
              <a:t>ACT</a:t>
            </a:r>
          </a:p>
          <a:p xmlns:a="http://schemas.openxmlformats.org/drawingml/2006/main">
            <a:pPr algn="ctr">
              <a:defRPr sz="1500" b="1" i="0">
                <a:solidFill>
                  <a:srgbClr val="3E6FA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3E6FA3"/>
                </a:solidFill>
                <a:latin typeface="Times New Roman"/>
                <a:ea typeface="Times New Roman"/>
                <a:cs typeface="Times New Roman"/>
              </a:rPr>
              <a:t>nominal chunk</a:t>
            </a:r>
          </a:p>
        </p:txBody>
      </p:sp>
      <p:sp>
        <p:nvSpPr>
          <p:cNvPr id="36" name="Causal failure-risk monitor">
            <a:extLst xmlns:a="http://schemas.openxmlformats.org/drawingml/2006/main">
              <a:ext uri="{FF2B5EF4-FFF2-40B4-BE49-F238E27FC236}">
                <a16:creationId xmlns:a16="http://schemas.microsoft.com/office/drawing/2014/main" id="{810DC779-0356-4A6F-87F5-8BCC9B54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562100"/>
            <a:ext cx="133350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BF3E6"/>
          </a:solidFill>
          <a:ln xmlns:a="http://schemas.openxmlformats.org/drawingml/2006/main" w="13335">
            <a:solidFill>
              <a:srgbClr val="B97823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9735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9782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B97823"/>
                </a:solidFill>
                <a:latin typeface="Times New Roman"/>
                <a:ea typeface="Times New Roman"/>
                <a:cs typeface="Times New Roman"/>
              </a:rPr>
              <a:t>LSTM</a:t>
            </a:r>
          </a:p>
          <a:p xmlns:a="http://schemas.openxmlformats.org/drawingml/2006/main">
            <a:pPr algn="ctr">
              <a:defRPr sz="1500" b="1" i="0">
                <a:solidFill>
                  <a:srgbClr val="B9782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B97823"/>
                </a:solidFill>
                <a:latin typeface="Times New Roman"/>
                <a:ea typeface="Times New Roman"/>
                <a:cs typeface="Times New Roman"/>
              </a:rPr>
              <a:t>risk pₜ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4A889B-3C19-43C4-B6AC-FF6041BE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981075"/>
            <a:ext cx="76200" cy="76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5A7529-2F00-47AD-A4D7-DEC171A8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857375"/>
            <a:ext cx="76200" cy="76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3" name=""/>
          <p:cNvCxnSpPr>
            <a:stCxn xmlns:a="http://schemas.openxmlformats.org/drawingml/2006/main" id="37" idx="6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V="1">
            <a:off x="4486275" y="981075"/>
            <a:ext cx="23812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E6FA3"/>
            </a:solidFill>
            <a:prstDash val="solid"/>
            <a:tailEnd type="triangle" w="sm" len="sm"/>
          </a:ln>
        </p:spPr>
      </p:cxnSp>
      <p:cxnSp>
        <p:nvCxnSpPr>
          <p:cNvPr id="134" name=""/>
          <p:cNvCxnSpPr>
            <a:stCxn xmlns:a="http://schemas.openxmlformats.org/drawingml/2006/main" id="38" idx="6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4486275" y="1857375"/>
            <a:ext cx="23812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97823"/>
            </a:solidFill>
            <a:prstDash val="solid"/>
            <a:tailEnd type="triangle" w="sm" len="sm"/>
          </a:ln>
        </p:spPr>
      </p:cxnSp>
      <p:sp>
        <p:nvSpPr>
          <p:cNvPr id="41" name="Frozen deployment risk gate">
            <a:extLst xmlns:a="http://schemas.openxmlformats.org/drawingml/2006/main">
              <a:ext uri="{FF2B5EF4-FFF2-40B4-BE49-F238E27FC236}">
                <a16:creationId xmlns:a16="http://schemas.microsoft.com/office/drawing/2014/main" id="{B8E1860B-5216-48F7-87CD-E56179B1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71550"/>
            <a:ext cx="1009650" cy="9144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13335">
            <a:solidFill>
              <a:srgbClr val="9B3E3E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9B3E3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9B3E3E"/>
                </a:solidFill>
                <a:latin typeface="Times New Roman"/>
                <a:ea typeface="Times New Roman"/>
                <a:cs typeface="Times New Roman"/>
              </a:rPr>
              <a:t>risk gate</a:t>
            </a:r>
          </a:p>
          <a:p xmlns:a="http://schemas.openxmlformats.org/drawingml/2006/main">
            <a:pPr algn="ctr">
              <a:defRPr sz="1575" b="1" i="0">
                <a:solidFill>
                  <a:srgbClr val="9B3E3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9B3E3E"/>
                </a:solidFill>
                <a:latin typeface="Times New Roman"/>
                <a:ea typeface="Times New Roman"/>
                <a:cs typeface="Times New Roman"/>
              </a:rPr>
              <a:t>pₜ ≥ 0.20?</a:t>
            </a:r>
          </a:p>
        </p:txBody>
      </p:sp>
      <p:cxnSp>
        <p:nvCxnSpPr>
          <p:cNvPr id="136" name=""/>
          <p:cNvCxnSpPr>
            <a:stCxn xmlns:a="http://schemas.openxmlformats.org/drawingml/2006/main" id="35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057900" y="981075"/>
            <a:ext cx="419100" cy="447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E6FA3"/>
            </a:solidFill>
            <a:prstDash val="solid"/>
            <a:tailEnd type="triangle" w="sm" len="sm"/>
          </a:ln>
        </p:spPr>
      </p:cxnSp>
      <p:cxnSp>
        <p:nvCxnSpPr>
          <p:cNvPr id="137" name=""/>
          <p:cNvCxnSpPr>
            <a:stCxn xmlns:a="http://schemas.openxmlformats.org/drawingml/2006/main" id="36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V="1">
            <a:off x="6057900" y="1428750"/>
            <a:ext cx="419100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97823"/>
            </a:solidFill>
            <a:prstDash val="solid"/>
            <a:tailEnd type="triangle" w="sm" len="sm"/>
          </a:ln>
        </p:spPr>
      </p:cxnSp>
      <p:sp>
        <p:nvSpPr>
          <p:cNvPr id="44" name="Nominal action">
            <a:extLst xmlns:a="http://schemas.openxmlformats.org/drawingml/2006/main">
              <a:ext uri="{FF2B5EF4-FFF2-40B4-BE49-F238E27FC236}">
                <a16:creationId xmlns:a16="http://schemas.microsoft.com/office/drawing/2014/main" id="{3DD6B69F-DFD8-4C5B-903F-2440C370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85800"/>
            <a:ext cx="85725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EF4F9"/>
          </a:solidFill>
          <a:ln xmlns:a="http://schemas.openxmlformats.org/drawingml/2006/main" w="13335">
            <a:solidFill>
              <a:srgbClr val="3E6FA3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9735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E6FA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3E6FA3"/>
                </a:solidFill>
                <a:latin typeface="Times New Roman"/>
                <a:ea typeface="Times New Roman"/>
                <a:cs typeface="Times New Roman"/>
              </a:rPr>
              <a:t>ACT action</a:t>
            </a:r>
          </a:p>
        </p:txBody>
      </p:sp>
      <p:sp>
        <p:nvSpPr>
          <p:cNvPr id="45" name="Persistent recovery policy">
            <a:extLst xmlns:a="http://schemas.openxmlformats.org/drawingml/2006/main">
              <a:ext uri="{FF2B5EF4-FFF2-40B4-BE49-F238E27FC236}">
                <a16:creationId xmlns:a16="http://schemas.microsoft.com/office/drawing/2014/main" id="{637A89B6-7B0B-490A-BEA3-F2FE61D2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62100"/>
            <a:ext cx="857250" cy="59055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EDF6F1"/>
          </a:solidFill>
          <a:ln xmlns:a="http://schemas.openxmlformats.org/drawingml/2006/main" w="13335">
            <a:solidFill>
              <a:srgbClr val="3E8764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rPr>
              <a:t>recovery</a:t>
            </a:r>
          </a:p>
          <a:p xmlns:a="http://schemas.openxmlformats.org/drawingml/2006/main">
            <a:pPr algn="ctr">
              <a:defRPr sz="1350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rPr>
              <a:t>policy</a:t>
            </a:r>
          </a:p>
        </p:txBody>
      </p:sp>
      <p:cxnSp>
        <p:nvCxnSpPr>
          <p:cNvPr id="140" name=""/>
          <p:cNvCxnSpPr>
            <a:stCxn xmlns:a="http://schemas.openxmlformats.org/drawingml/2006/main" id="41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V="1">
            <a:off x="7486650" y="981075"/>
            <a:ext cx="247650" cy="447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E6FA3"/>
            </a:solidFill>
            <a:prstDash val="solid"/>
            <a:tailEnd type="triangle" w="sm" len="sm"/>
          </a:ln>
        </p:spPr>
      </p:cxnSp>
      <p:cxnSp>
        <p:nvCxnSpPr>
          <p:cNvPr id="141" name=""/>
          <p:cNvCxnSpPr>
            <a:stCxn xmlns:a="http://schemas.openxmlformats.org/drawingml/2006/main" id="41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7486650" y="1428750"/>
            <a:ext cx="247650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E8764"/>
            </a:solidFill>
            <a:prstDash val="soli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F423EC-E5B9-474F-8CA9-A95504A6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66725"/>
            <a:ext cx="9525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D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3E6FA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3E6FA3"/>
                </a:solidFill>
                <a:latin typeface="Times New Roman"/>
                <a:ea typeface="Times New Roman"/>
                <a:cs typeface="Times New Roman"/>
              </a:rPr>
              <a:t>low risk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6488C4-DEED-401D-B440-D24F0EED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333500"/>
            <a:ext cx="819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D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rPr>
              <a:t>high risk</a:t>
            </a:r>
          </a:p>
        </p:txBody>
      </p:sp>
      <p:sp>
        <p:nvSpPr>
          <p:cNvPr id="50" name="Executed action">
            <a:extLst xmlns:a="http://schemas.openxmlformats.org/drawingml/2006/main">
              <a:ext uri="{FF2B5EF4-FFF2-40B4-BE49-F238E27FC236}">
                <a16:creationId xmlns:a16="http://schemas.microsoft.com/office/drawing/2014/main" id="{029FA8D7-320D-4941-9D38-CD0C0B22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381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242424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710"/>
          </a:bodyPr>
          <a:lstStyle xmlns:a="http://schemas.openxmlformats.org/drawingml/2006/main"/>
          <a:p xmlns:a="http://schemas.openxmlformats.org/drawingml/2006/main">
            <a:pPr algn="ctr">
              <a:defRPr sz="165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aₜ</a:t>
            </a:r>
          </a:p>
        </p:txBody>
      </p:sp>
      <p:sp>
        <p:nvSpPr>
          <p:cNvPr id="51" name="Nominal action route top">
            <a:extLst xmlns:a="http://schemas.openxmlformats.org/drawingml/2006/main">
              <a:ext uri="{FF2B5EF4-FFF2-40B4-BE49-F238E27FC236}">
                <a16:creationId xmlns:a16="http://schemas.microsoft.com/office/drawing/2014/main" id="{C47303AB-EBDB-47C6-B609-08D3E4E4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71550"/>
            <a:ext cx="171450" cy="20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A3"/>
          </a:solidFill>
          <a:ln xmlns:a="http://schemas.openxmlformats.org/drawingml/2006/main" w="0">
            <a:noFill/>
          </a:ln>
        </p:spPr>
      </p:sp>
      <p:sp>
        <p:nvSpPr>
          <p:cNvPr id="52" name="Nominal action route side">
            <a:extLst xmlns:a="http://schemas.openxmlformats.org/drawingml/2006/main">
              <a:ext uri="{FF2B5EF4-FFF2-40B4-BE49-F238E27FC236}">
                <a16:creationId xmlns:a16="http://schemas.microsoft.com/office/drawing/2014/main" id="{860AA1DA-5D5D-417E-8F55-9A62D9D9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971550"/>
            <a:ext cx="2095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A3"/>
          </a:solidFill>
          <a:ln xmlns:a="http://schemas.openxmlformats.org/drawingml/2006/main" w="0">
            <a:noFill/>
          </a:ln>
        </p:spPr>
      </p:sp>
      <p:sp>
        <p:nvSpPr>
          <p:cNvPr id="53" name="Nominal action route arrow">
            <a:extLst xmlns:a="http://schemas.openxmlformats.org/drawingml/2006/main">
              <a:ext uri="{FF2B5EF4-FFF2-40B4-BE49-F238E27FC236}">
                <a16:creationId xmlns:a16="http://schemas.microsoft.com/office/drawing/2014/main" id="{2BBBC4FE-EDDB-400B-BA29-28173525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71725"/>
            <a:ext cx="152400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E6FA3"/>
          </a:solidFill>
          <a:ln xmlns:a="http://schemas.openxmlformats.org/drawingml/2006/main" w="0">
            <a:noFill/>
          </a:ln>
        </p:spPr>
      </p:sp>
      <p:cxnSp>
        <p:nvCxnSpPr>
          <p:cNvPr id="148" name=""/>
          <p:cNvCxnSpPr>
            <a:stCxn xmlns:a="http://schemas.openxmlformats.org/drawingml/2006/main" id="45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8162925" y="2152650"/>
            <a:ext cx="200025" cy="133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E8764"/>
            </a:solidFill>
            <a:prstDash val="solid"/>
            <a:tailEnd type="triangle" w="sm" len="sm"/>
          </a:ln>
        </p:spPr>
      </p:cxnSp>
      <p:cxnSp>
        <p:nvCxnSpPr>
          <p:cNvPr id="149" name=""/>
          <p:cNvCxnSpPr>
            <a:stCxn xmlns:a="http://schemas.openxmlformats.org/drawingml/2006/main" id="50" idx="1"/>
            <a:endCxn xmlns:a="http://schemas.openxmlformats.org/drawingml/2006/main" id="37" idx="0"/>
          </p:cNvCxnSpPr>
          <p:nvPr/>
        </p:nvCxnSpPr>
        <p:spPr>
          <a:xfrm xmlns:a="http://schemas.openxmlformats.org/drawingml/2006/main" flipH="1" flipV="1">
            <a:off x="4448175" y="981075"/>
            <a:ext cx="3724275" cy="1457325"/>
          </a:xfrm>
          <a:prstGeom xmlns:a="http://schemas.openxmlformats.org/drawingml/2006/main" prst="bentConnector2">
            <a:avLst/>
          </a:prstGeom>
          <a:ln xmlns:a="http://schemas.openxmlformats.org/drawingml/2006/main" w="15240">
            <a:solidFill>
              <a:srgbClr val="5F6872"/>
            </a:solidFill>
            <a:prstDash val="dash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126309-E254-4687-9EC4-7792E8DE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3145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DF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5F68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5F6872"/>
                </a:solidFill>
                <a:latin typeface="Times New Roman"/>
                <a:ea typeface="Times New Roman"/>
                <a:cs typeface="Times New Roman"/>
              </a:rPr>
              <a:t>closed-loop next state  sₜ₊₁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7E6ECF-BF55-43AD-AB69-B330DBAA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95575"/>
            <a:ext cx="5524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2E5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327276-F0BF-4284-8F12-5254EC2C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771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2407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Trigger-aligned recovery training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A84987-2AA0-4AC7-9DAF-26362568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003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5F68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F6872"/>
                </a:solidFill>
                <a:latin typeface="Times New Roman"/>
                <a:ea typeface="Times New Roman"/>
                <a:cs typeface="Times New Roman"/>
              </a:rPr>
              <a:t>42,386 train  ·  8,212 disjoint val. pairs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9005A0-6BC5-48D1-8138-C498A272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90875"/>
            <a:ext cx="828675" cy="828675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97823"/>
            </a:solidFill>
            <a:prstDash val="solid"/>
          </a:ln>
        </p:spPr>
      </p:sp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c1680ae8340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24225" y="3209925"/>
            <a:ext cx="790575" cy="790575"/>
          </a:xfrm>
          <a:prstGeom xmlns:a="http://schemas.openxmlformats.org/drawingml/2006/main" prst="rect">
            <a:avLst/>
          </a:prstGeom>
        </p:spPr>
      </p:pic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2D58F40-5C76-4ED6-BE9A-CA9F847E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90875"/>
            <a:ext cx="828675" cy="828675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E8764"/>
            </a:solidFill>
            <a:prstDash val="solid"/>
          </a:ln>
        </p:spPr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c27eace1646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81550" y="3209925"/>
            <a:ext cx="790575" cy="790575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6A9B47-1590-4EDC-8915-41011B5F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481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9782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B97823"/>
                </a:solidFill>
                <a:latin typeface="Times New Roman"/>
                <a:ea typeface="Times New Roman"/>
                <a:cs typeface="Times New Roman"/>
              </a:rPr>
              <a:t>trigger state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5FDFF49-D85C-4005-9FCC-A5DA7A71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48125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6831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rPr>
              <a:t>expert continuation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D430971-6960-4713-93A0-91730F9E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62350"/>
            <a:ext cx="76200" cy="76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5AE52E-B311-4231-8126-E3090C71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62350"/>
            <a:ext cx="76200" cy="76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66" idx="6"/>
            <a:endCxn xmlns:a="http://schemas.openxmlformats.org/drawingml/2006/main" id="67" idx="2"/>
          </p:cNvCxnSpPr>
          <p:nvPr/>
        </p:nvCxnSpPr>
        <p:spPr>
          <a:xfrm xmlns:a="http://schemas.openxmlformats.org/drawingml/2006/main">
            <a:off x="4248150" y="36004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5F6872"/>
            </a:solidFill>
            <a:prstDash val="solid"/>
            <a:tailEnd type="triangle" w="sm" len="sm"/>
          </a:ln>
        </p:spPr>
      </p:cxnSp>
      <p:sp>
        <p:nvSpPr>
          <p:cNvPr id="69" name="Smooth-L1 recovery imitation objective">
            <a:extLst xmlns:a="http://schemas.openxmlformats.org/drawingml/2006/main">
              <a:ext uri="{FF2B5EF4-FFF2-40B4-BE49-F238E27FC236}">
                <a16:creationId xmlns:a16="http://schemas.microsoft.com/office/drawing/2014/main" id="{11EB3A38-B810-44FE-B843-17AC056E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1066800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DF6F1"/>
          </a:solidFill>
          <a:ln xmlns:a="http://schemas.openxmlformats.org/drawingml/2006/main" w="13335">
            <a:solidFill>
              <a:srgbClr val="3E8764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rPr>
              <a:t>Smooth-L1</a:t>
            </a:r>
          </a:p>
          <a:p xmlns:a="http://schemas.openxmlformats.org/drawingml/2006/main">
            <a:pPr algn="ctr">
              <a:defRPr sz="1425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rPr>
              <a:t>supervision</a:t>
            </a:r>
          </a:p>
        </p:txBody>
      </p:sp>
      <p:sp>
        <p:nvSpPr>
          <p:cNvPr id="70" name="Learned recovery actor">
            <a:extLst xmlns:a="http://schemas.openxmlformats.org/drawingml/2006/main">
              <a:ext uri="{FF2B5EF4-FFF2-40B4-BE49-F238E27FC236}">
                <a16:creationId xmlns:a16="http://schemas.microsoft.com/office/drawing/2014/main" id="{B79BD81F-F163-4B08-B051-A9CA8354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95650"/>
            <a:ext cx="1066800" cy="62865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3F1E9"/>
          </a:solidFill>
          <a:ln xmlns:a="http://schemas.openxmlformats.org/drawingml/2006/main" w="13335">
            <a:solidFill>
              <a:srgbClr val="3E8764"/>
            </a:solidFill>
            <a:prstDash val="solid"/>
          </a:ln>
        </p:spPr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rPr>
              <a:t>recovery</a:t>
            </a:r>
          </a:p>
          <a:p xmlns:a="http://schemas.openxmlformats.org/drawingml/2006/main">
            <a:pPr algn="ctr">
              <a:defRPr sz="1500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rPr>
              <a:t>actor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65DCD4E-0F26-486E-A588-DD388802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562350"/>
            <a:ext cx="76200" cy="76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71" idx="6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5686425" y="3600450"/>
            <a:ext cx="504825" cy="9525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3E8764"/>
            </a:solidFill>
            <a:prstDash val="solid"/>
            <a:tailEnd type="triangle" w="sm" len="sm"/>
          </a:ln>
        </p:spPr>
      </p:cxnSp>
      <p:cxnSp>
        <p:nvCxnSpPr>
          <p:cNvPr id="167" name=""/>
          <p:cNvCxnSpPr>
            <a:stCxn xmlns:a="http://schemas.openxmlformats.org/drawingml/2006/main" id="6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>
            <a:off x="7258050" y="36099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3E8764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BC0965A-02D8-4F7F-AED6-F9B0B28A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1002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5F68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5F6872"/>
                </a:solidFill>
                <a:latin typeface="Times New Roman"/>
                <a:ea typeface="Times New Roman"/>
                <a:cs typeface="Times New Roman"/>
              </a:rPr>
              <a:t>same states visited by the gate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CA20783-FB87-4F73-BF12-92A10D16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666750"/>
            <a:ext cx="800100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97823"/>
            </a:solidFill>
            <a:prstDash val="solid"/>
          </a:ln>
        </p:spPr>
      </p:sp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6b46d939848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29725" y="6858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99BC7B-70EA-41CD-863A-97220FC3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66750"/>
            <a:ext cx="800100" cy="8001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E8764"/>
            </a:solidFill>
            <a:prstDash val="solid"/>
          </a:ln>
        </p:spPr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25e6f067e453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1750" y="6858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E8CB118-213A-4507-A2E0-7930C773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66750"/>
            <a:ext cx="723900" cy="80010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E8764"/>
            </a:solidFill>
            <a:prstDash val="solid"/>
          </a:ln>
        </p:spPr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a831a5baa44d0"/>
          <a:srcRect xmlns:a="http://schemas.openxmlformats.org/drawingml/2006/main" l="5000" t="0" r="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53775" y="685800"/>
            <a:ext cx="685800" cy="762000"/>
          </a:xfrm>
          <a:prstGeom xmlns:a="http://schemas.openxmlformats.org/drawingml/2006/main" prst="rect">
            <a:avLst/>
          </a:prstGeom>
        </p:spPr>
      </p:pic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90BC0CF-B299-461A-9C70-F5CD6670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028700"/>
            <a:ext cx="57150" cy="66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F13235A-0D9E-4FD7-9F22-02D062C8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1028700"/>
            <a:ext cx="57150" cy="66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F68F167-EBBC-4E28-AB5D-6A16A754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028700"/>
            <a:ext cx="57150" cy="66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8A59369-3A9B-4F0A-8A9B-4BB34801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028700"/>
            <a:ext cx="57150" cy="666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81" idx="6"/>
            <a:endCxn xmlns:a="http://schemas.openxmlformats.org/drawingml/2006/main" id="83" idx="2"/>
          </p:cNvCxnSpPr>
          <p:nvPr/>
        </p:nvCxnSpPr>
        <p:spPr>
          <a:xfrm xmlns:a="http://schemas.openxmlformats.org/drawingml/2006/main">
            <a:off x="10086975" y="1062038"/>
            <a:ext cx="47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F6872"/>
            </a:solidFill>
            <a:prstDash val="solid"/>
            <a:tailEnd type="triangle" w="sm" len="sm"/>
          </a:ln>
        </p:spPr>
      </p:cxnSp>
      <p:cxnSp>
        <p:nvCxnSpPr>
          <p:cNvPr id="180" name=""/>
          <p:cNvCxnSpPr>
            <a:stCxn xmlns:a="http://schemas.openxmlformats.org/drawingml/2006/main" id="82" idx="6"/>
            <a:endCxn xmlns:a="http://schemas.openxmlformats.org/drawingml/2006/main" id="84" idx="2"/>
          </p:cNvCxnSpPr>
          <p:nvPr/>
        </p:nvCxnSpPr>
        <p:spPr>
          <a:xfrm xmlns:a="http://schemas.openxmlformats.org/drawingml/2006/main">
            <a:off x="11039475" y="1062038"/>
            <a:ext cx="57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F6872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4A4E63D-7759-47A8-9D64-D34FD379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95425"/>
            <a:ext cx="781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9782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B97823"/>
                </a:solidFill>
                <a:latin typeface="Times New Roman"/>
                <a:ea typeface="Times New Roman"/>
                <a:cs typeface="Times New Roman"/>
              </a:rPr>
              <a:t>risk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2C9F9EB-BD57-499A-9C5B-A0ADCDEB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495425"/>
            <a:ext cx="800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rPr>
              <a:t>re-grasp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88F464D-50D9-462E-956D-1F409E17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1495425"/>
            <a:ext cx="781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rPr>
              <a:t>success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865F429-DF99-4BD1-94F3-3F4A7654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819275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48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Task success (%)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BE27819-2B7C-4DBB-B080-CF78C95E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819275"/>
            <a:ext cx="1019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3E8764"/>
                </a:solidFill>
                <a:latin typeface="Times New Roman"/>
                <a:ea typeface="Times New Roman"/>
                <a:cs typeface="Times New Roman"/>
              </a:rPr>
              <a:t>+17.0 pp</a:t>
            </a:r>
          </a:p>
        </p:txBody>
      </p:sp>
      <p:graphicFrame>
        <p:nvGraphicFramePr>
          <p:cNvPr id="186" name="Chart"/>
          <p:cNvGraphicFramePr/>
          <p:nvPr/>
        </p:nvGraphicFramePr>
        <p:xfrm>
          <a:off xmlns:a="http://schemas.openxmlformats.org/drawingml/2006/main" x="9239250" y="2143125"/>
          <a:ext xmlns:a="http://schemas.openxmlformats.org/drawingml/2006/main" cx="2609850" cy="1924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52eca73de454667"/>
          </a:graphicData>
        </a:graphic>
      </p:graphicFrame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9D7D89-D3F2-46F6-91A6-9842B176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95750"/>
            <a:ext cx="2628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F68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F6872"/>
                </a:solidFill>
                <a:latin typeface="Times New Roman"/>
                <a:ea typeface="Times New Roman"/>
                <a:cs typeface="Times New Roman"/>
              </a:rPr>
              <a:t>1,000 paired PickPlace episodes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6B368EF-07D0-4A8F-93D6-B742A717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338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5F68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5F6872"/>
                </a:solidFill>
                <a:latin typeface="Times New Roman"/>
                <a:ea typeface="Times New Roman"/>
                <a:cs typeface="Times New Roman"/>
              </a:rPr>
              <a:t>gain 95% CI  +14.7 to +19.3 pp</a:t>
            </a:r>
          </a:p>
        </p:txBody>
      </p:sp>
    </p:spTree>
    <p:extLst>
      <p:ext uri="{BB962C8B-B14F-4D97-AF65-F5344CB8AC3E}">
        <p14:creationId xmlns:p14="http://schemas.microsoft.com/office/powerpoint/2010/main" val="1576510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2026-09-05T05:20:54.5390000Z</dcterms:created>
  <dcterms:modified xsi:type="dcterms:W3CDTF">2026-09-05T05:20:54.5390000Z</dcterms:modified>
</coreProperties>
</file>